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E0C138F0-8717-D2E8-C6A5-EF7EDA500EA2}">
          <p14:sldIdLst>
            <p14:sldId id="256"/>
            <p14:sldId id="257"/>
            <p14:sldId id="258"/>
            <p14:sldId id="259"/>
          </p14:sldIdLst>
        </p14:section>
        <p14:section name="Data &amp; Features" id="{C7B62A47-952C-0149-C4AD-921B388AB6F0}">
          <p14:sldIdLst>
            <p14:sldId id="260"/>
            <p14:sldId id="261"/>
            <p14:sldId id="262"/>
          </p14:sldIdLst>
        </p14:section>
        <p14:section name="Analysis &amp; Model" id="{7221EF8C-C5A3-D162-16EB-62BE8AD0BFA2}">
          <p14:sldIdLst>
            <p14:sldId id="263"/>
            <p14:sldId id="264"/>
            <p14:sldId id="265"/>
          </p14:sldIdLst>
        </p14:section>
        <p14:section name="Results &amp; Demo" id="{D557A355-6393-6983-C330-406AF02F398C}">
          <p14:sldIdLst>
            <p14:sldId id="266"/>
            <p14:sldId id="267"/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1" d="100"/>
          <a:sy n="121" d="100"/>
        </p:scale>
        <p:origin x="346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Avg price per m² (USD)</c:v>
                </c:pt>
              </c:strCache>
            </c:strRef>
          </c:tx>
          <c:spPr>
            <a:solidFill>
              <a:srgbClr val="0B8793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0-C7BF-4632-8555-A2035313D030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C7BF-4632-8555-A2035313D030}"/>
              </c:ext>
            </c:extLst>
          </c:dPt>
          <c:dPt>
            <c:idx val="2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2-C7BF-4632-8555-A2035313D030}"/>
              </c:ext>
            </c:extLst>
          </c:dPt>
          <c:dPt>
            <c:idx val="3"/>
            <c:invertIfNegative val="0"/>
            <c:bubble3D val="0"/>
            <c:spPr>
              <a:solidFill>
                <a:srgbClr val="38D6E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4-C7BF-4632-8555-A2035313D030}"/>
              </c:ext>
            </c:extLst>
          </c:dPt>
          <c:dPt>
            <c:idx val="4"/>
            <c:invertIfNegative val="0"/>
            <c:bubble3D val="0"/>
            <c:spPr>
              <a:solidFill>
                <a:srgbClr val="38D6E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6-C7BF-4632-8555-A2035313D030}"/>
              </c:ext>
            </c:extLst>
          </c:dPt>
          <c:dPt>
            <c:idx val="5"/>
            <c:invertIfNegative val="0"/>
            <c:bubble3D val="0"/>
            <c:spPr>
              <a:solidFill>
                <a:srgbClr val="93A3B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8-C7BF-4632-8555-A2035313D030}"/>
              </c:ext>
            </c:extLst>
          </c:dPt>
          <c:dPt>
            <c:idx val="6"/>
            <c:invertIfNegative val="0"/>
            <c:bubble3D val="0"/>
            <c:spPr>
              <a:solidFill>
                <a:srgbClr val="E4572E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A-C7BF-4632-8555-A2035313D030}"/>
              </c:ext>
            </c:extLst>
          </c:dPt>
          <c:dLbls>
            <c:numFmt formatCode="\$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400" b="1" i="0" u="none" strike="noStrike">
                    <a:solidFill>
                      <a:srgbClr val="0B1B3A"/>
                    </a:solidFill>
                    <a:latin typeface="+mn-lt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Sheet1!$A$2:$A$8</c:f>
              <c:strCache>
                <c:ptCount val="7"/>
                <c:pt idx="0">
                  <c:v>Mirobod</c:v>
                </c:pt>
                <c:pt idx="1">
                  <c:v>Yakkasaroy</c:v>
                </c:pt>
                <c:pt idx="2">
                  <c:v>Mirzo Ulugbek</c:v>
                </c:pt>
                <c:pt idx="3">
                  <c:v>Yunusobod</c:v>
                </c:pt>
                <c:pt idx="4">
                  <c:v>Chilonzor</c:v>
                </c:pt>
                <c:pt idx="5">
                  <c:v>Uchtepa</c:v>
                </c:pt>
                <c:pt idx="6">
                  <c:v>Sergeli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965</c:v>
                </c:pt>
                <c:pt idx="1">
                  <c:v>915</c:v>
                </c:pt>
                <c:pt idx="2">
                  <c:v>842</c:v>
                </c:pt>
                <c:pt idx="3">
                  <c:v>795</c:v>
                </c:pt>
                <c:pt idx="4">
                  <c:v>745</c:v>
                </c:pt>
                <c:pt idx="5">
                  <c:v>695</c:v>
                </c:pt>
                <c:pt idx="6">
                  <c:v>590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19C-2F48-83EF-6577D3C326C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0B1B3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200"/>
          <c:min val="0"/>
        </c:scaling>
        <c:delete val="1"/>
        <c:axPos val="t"/>
        <c:numFmt formatCode="General" sourceLinked="0"/>
        <c:majorTickMark val="out"/>
        <c:minorTickMark val="none"/>
        <c:tickLblPos val="low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2913063" y="0"/>
            <a:ext cx="222885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8A6841C-1B62-944E-9B65-8721A85F7121}" type="datetimeFigureOut">
              <a:rPr lang="en-US" smtClean="0"/>
              <a:t>10/19/2026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2913063" y="8685213"/>
            <a:ext cx="222885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03EE572-6E0E-1E4E-9523-E5439D000CD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732062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bg2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Tashkent Apartment Price Prediction  •  Group E40B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tx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75488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5"/>
                </a:solidFill>
              </a:rPr>
              <a:t>Tashkent Apartment Price Prediction  •  Group E40B</a:t>
            </a:r>
            <a:endParaRPr lang="en-US" sz="1000" dirty="0"/>
          </a:p>
        </p:txBody>
      </p:sp>
      <p:sp>
        <p:nvSpPr>
          <p:cNvPr id="4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28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3" hasCustomPrompt="1"/>
          </p:nvPr>
        </p:nvSpPr>
        <p:spPr>
          <a:xfrm>
            <a:off x="548640" y="960120"/>
            <a:ext cx="493776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3600" dirty="0"/>
          </a:p>
        </p:txBody>
      </p:sp>
      <p:sp>
        <p:nvSpPr>
          <p:cNvPr id="4" name="Text 1"/>
          <p:cNvSpPr>
            <a:spLocks noGrp="1"/>
          </p:cNvSpPr>
          <p:nvPr>
            <p:ph type="body" idx="104" hasCustomPrompt="1"/>
          </p:nvPr>
        </p:nvSpPr>
        <p:spPr>
          <a:xfrm>
            <a:off x="548640" y="2468880"/>
            <a:ext cx="45720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chemeClr val="tx1"/>
          </a:solidFill>
          <a:ln/>
        </p:spPr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48640" y="1325880"/>
            <a:ext cx="731520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000" b="1" dirty="0">
                <a:solidFill>
                  <a:schemeClr val="bg1"/>
                </a:solidFill>
              </a:defRPr>
            </a:lvl1pPr>
          </a:lstStyle>
          <a:p>
            <a:pPr marL="0" indent="0" algn="l">
              <a:buNone/>
            </a:pPr>
            <a:endParaRPr lang="en-US" sz="5000" dirty="0"/>
          </a:p>
        </p:txBody>
      </p:sp>
      <p:sp>
        <p:nvSpPr>
          <p:cNvPr id="4" name="Text 1"/>
          <p:cNvSpPr>
            <a:spLocks noGrp="1"/>
          </p:cNvSpPr>
          <p:nvPr>
            <p:ph type="body" idx="105" hasCustomPrompt="1"/>
          </p:nvPr>
        </p:nvSpPr>
        <p:spPr>
          <a:xfrm>
            <a:off x="548640" y="2423160"/>
            <a:ext cx="585216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1600" dirty="0">
                <a:solidFill>
                  <a:schemeClr val="accent5"/>
                </a:solidFill>
              </a:defRPr>
            </a:lvl1pPr>
          </a:lstStyle>
          <a:p>
            <a:pPr marL="0" indent="0" algn="l"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Relationship Id="rId5" Type="http://schemas.openxmlformats.org/officeDocument/2006/relationships/slide" Target="slide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slide" Target="slide11.xml"/><Relationship Id="rId3" Type="http://schemas.openxmlformats.org/officeDocument/2006/relationships/image" Target="../media/image3.png"/><Relationship Id="rId7" Type="http://schemas.openxmlformats.org/officeDocument/2006/relationships/slide" Target="slide8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slide" Target="slide5.xml"/><Relationship Id="rId5" Type="http://schemas.openxmlformats.org/officeDocument/2006/relationships/image" Target="../media/image4.png"/><Relationship Id="rId4" Type="http://schemas.openxmlformats.org/officeDocument/2006/relationships/slide" Target="slide3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6.png"/><Relationship Id="rId7" Type="http://schemas.openxmlformats.org/officeDocument/2006/relationships/slide" Target="slide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11" Type="http://schemas.openxmlformats.org/officeDocument/2006/relationships/image" Target="../media/image12.png"/><Relationship Id="rId5" Type="http://schemas.openxmlformats.org/officeDocument/2006/relationships/image" Target="../media/image8.png"/><Relationship Id="rId10" Type="http://schemas.openxmlformats.org/officeDocument/2006/relationships/slide" Target="slide4.xml"/><Relationship Id="rId4" Type="http://schemas.openxmlformats.org/officeDocument/2006/relationships/image" Target="../media/image7.pn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13" Type="http://schemas.openxmlformats.org/officeDocument/2006/relationships/image" Target="../media/image12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12" Type="http://schemas.openxmlformats.org/officeDocument/2006/relationships/slide" Target="slide5.xm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11.png"/><Relationship Id="rId5" Type="http://schemas.openxmlformats.org/officeDocument/2006/relationships/image" Target="../media/image15.png"/><Relationship Id="rId10" Type="http://schemas.openxmlformats.org/officeDocument/2006/relationships/slide" Target="slide2.xml"/><Relationship Id="rId4" Type="http://schemas.openxmlformats.org/officeDocument/2006/relationships/image" Target="../media/image14.png"/><Relationship Id="rId9" Type="http://schemas.openxmlformats.org/officeDocument/2006/relationships/image" Target="../media/image10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" Target="slide4.xml"/><Relationship Id="rId7" Type="http://schemas.openxmlformats.org/officeDocument/2006/relationships/slide" Target="slide6.xm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slide" Target="slide2.xml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0.png"/><Relationship Id="rId7" Type="http://schemas.openxmlformats.org/officeDocument/2006/relationships/slide" Target="slide5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png"/><Relationship Id="rId11" Type="http://schemas.openxmlformats.org/officeDocument/2006/relationships/slide" Target="slide7.xml"/><Relationship Id="rId5" Type="http://schemas.openxmlformats.org/officeDocument/2006/relationships/image" Target="../media/image22.png"/><Relationship Id="rId10" Type="http://schemas.openxmlformats.org/officeDocument/2006/relationships/image" Target="../media/image11.png"/><Relationship Id="rId4" Type="http://schemas.openxmlformats.org/officeDocument/2006/relationships/image" Target="../media/image21.png"/><Relationship Id="rId9" Type="http://schemas.openxmlformats.org/officeDocument/2006/relationships/slide" Target="slide2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5.png"/><Relationship Id="rId7" Type="http://schemas.openxmlformats.org/officeDocument/2006/relationships/slide" Target="slide6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11" Type="http://schemas.openxmlformats.org/officeDocument/2006/relationships/slide" Target="slide8.xml"/><Relationship Id="rId5" Type="http://schemas.openxmlformats.org/officeDocument/2006/relationships/image" Target="../media/image25.png"/><Relationship Id="rId10" Type="http://schemas.openxmlformats.org/officeDocument/2006/relationships/image" Target="../media/image11.png"/><Relationship Id="rId4" Type="http://schemas.openxmlformats.org/officeDocument/2006/relationships/image" Target="../media/image24.png"/><Relationship Id="rId9" Type="http://schemas.openxmlformats.org/officeDocument/2006/relationships/slide" Target="slide2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" Target="slide9.xml"/><Relationship Id="rId3" Type="http://schemas.openxmlformats.org/officeDocument/2006/relationships/chart" Target="../charts/chart1.xml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png"/><Relationship Id="rId4" Type="http://schemas.openxmlformats.org/officeDocument/2006/relationships/slide" Target="slide7.xml"/><Relationship Id="rId9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27.png"/><Relationship Id="rId7" Type="http://schemas.openxmlformats.org/officeDocument/2006/relationships/slide" Target="slide8.xml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1.png"/><Relationship Id="rId11" Type="http://schemas.openxmlformats.org/officeDocument/2006/relationships/slide" Target="slide10.xml"/><Relationship Id="rId5" Type="http://schemas.openxmlformats.org/officeDocument/2006/relationships/image" Target="../media/image15.png"/><Relationship Id="rId10" Type="http://schemas.openxmlformats.org/officeDocument/2006/relationships/image" Target="../media/image11.png"/><Relationship Id="rId4" Type="http://schemas.openxmlformats.org/officeDocument/2006/relationships/image" Target="../media/image28.png"/><Relationship Id="rId9" Type="http://schemas.openxmlformats.org/officeDocument/2006/relationships/slide" Target="slide2.xml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slide" Target="slide9.xml"/><Relationship Id="rId7" Type="http://schemas.openxmlformats.org/officeDocument/2006/relationships/slide" Target="slide1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slide" Target="slide2.xml"/><Relationship Id="rId4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slide" Target="slide10.xml"/><Relationship Id="rId7" Type="http://schemas.openxmlformats.org/officeDocument/2006/relationships/slide" Target="slide12.xm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png"/><Relationship Id="rId5" Type="http://schemas.openxmlformats.org/officeDocument/2006/relationships/slide" Target="slide2.xml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13.xml"/><Relationship Id="rId3" Type="http://schemas.openxmlformats.org/officeDocument/2006/relationships/image" Target="../media/image29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slide" Target="slide2.xml"/><Relationship Id="rId5" Type="http://schemas.openxmlformats.org/officeDocument/2006/relationships/image" Target="../media/image10.png"/><Relationship Id="rId4" Type="http://schemas.openxmlformats.org/officeDocument/2006/relationships/slide" Target="slide11.xml"/><Relationship Id="rId9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bekhruzbek-oydinov/team-TEAM" TargetMode="External"/><Relationship Id="rId3" Type="http://schemas.openxmlformats.org/officeDocument/2006/relationships/hyperlink" Target="https://sites.google.com/view/real-estate-price-predictor/full-page-embed" TargetMode="External"/><Relationship Id="rId7" Type="http://schemas.openxmlformats.org/officeDocument/2006/relationships/image" Target="../media/image1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slide" Target="slide2.xml"/><Relationship Id="rId5" Type="http://schemas.openxmlformats.org/officeDocument/2006/relationships/image" Target="../media/image18.png"/><Relationship Id="rId4" Type="http://schemas.openxmlformats.org/officeDocument/2006/relationships/slide" Target="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Skyline photo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0" y="0"/>
            <a:ext cx="3474720" cy="5143500"/>
          </a:xfrm>
          <a:prstGeom prst="rect">
            <a:avLst/>
          </a:prstGeom>
        </p:spPr>
      </p:pic>
      <p:sp>
        <p:nvSpPr>
          <p:cNvPr id="3" name="Photo tint"/>
          <p:cNvSpPr/>
          <p:nvPr/>
        </p:nvSpPr>
        <p:spPr>
          <a:xfrm>
            <a:off x="5669280" y="0"/>
            <a:ext cx="3474720" cy="5143500"/>
          </a:xfrm>
          <a:prstGeom prst="rect">
            <a:avLst/>
          </a:prstGeom>
          <a:solidFill>
            <a:schemeClr val="tx1">
              <a:alpha val="38000"/>
            </a:schemeClr>
          </a:solidFill>
          <a:ln/>
        </p:spPr>
      </p:sp>
      <p:sp>
        <p:nvSpPr>
          <p:cNvPr id="4" name="Dollar badge"/>
          <p:cNvSpPr/>
          <p:nvPr/>
        </p:nvSpPr>
        <p:spPr>
          <a:xfrm>
            <a:off x="5212080" y="411480"/>
            <a:ext cx="914400" cy="9144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5" name="Dollar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0680" y="640080"/>
            <a:ext cx="457200" cy="457200"/>
          </a:xfrm>
          <a:prstGeom prst="rect">
            <a:avLst/>
          </a:prstGeom>
        </p:spPr>
      </p:pic>
      <p:sp>
        <p:nvSpPr>
          <p:cNvPr id="6" name="Kicker"/>
          <p:cNvSpPr txBox="1"/>
          <p:nvPr/>
        </p:nvSpPr>
        <p:spPr>
          <a:xfrm>
            <a:off x="548640" y="640080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6"/>
                </a:solidFill>
              </a:rPr>
              <a:t>AI &amp; MACHINE LEARNING PROJECT  •  TEAM (GROUP E40B)</a:t>
            </a:r>
            <a:endParaRPr lang="en-US" sz="1000" dirty="0"/>
          </a:p>
        </p:txBody>
      </p:sp>
      <p:sp>
        <p:nvSpPr>
          <p:cNvPr id="7" name="Text 1"/>
          <p:cNvSpPr>
            <a:spLocks noGrp="1"/>
          </p:cNvSpPr>
          <p:nvPr>
            <p:ph type="title" idx="103" hasCustomPrompt="1"/>
          </p:nvPr>
        </p:nvSpPr>
        <p:spPr>
          <a:xfrm>
            <a:off x="548640" y="960120"/>
            <a:ext cx="4937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3600" b="1" dirty="0">
                <a:solidFill>
                  <a:schemeClr val="bg1"/>
                </a:solidFill>
              </a:rPr>
              <a:t>Tashkent Apartment Price Prediction</a:t>
            </a:r>
            <a:endParaRPr lang="en-US" sz="3600" dirty="0"/>
          </a:p>
        </p:txBody>
      </p:sp>
      <p:sp>
        <p:nvSpPr>
          <p:cNvPr id="8" name="Text 1"/>
          <p:cNvSpPr>
            <a:spLocks noGrp="1"/>
          </p:cNvSpPr>
          <p:nvPr>
            <p:ph type="body" idx="104" hasCustomPrompt="1"/>
          </p:nvPr>
        </p:nvSpPr>
        <p:spPr>
          <a:xfrm>
            <a:off x="548640" y="2468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accent5"/>
                </a:solidFill>
              </a:rPr>
              <a:t>Exploratory data analysis and Multiple Linear Regression modeling on Uybor.uz listings.</a:t>
            </a:r>
            <a:endParaRPr lang="en-US" sz="1600" dirty="0"/>
          </a:p>
        </p:txBody>
      </p:sp>
      <p:sp>
        <p:nvSpPr>
          <p:cNvPr id="9" name="Team member 1"/>
          <p:cNvSpPr txBox="1"/>
          <p:nvPr/>
        </p:nvSpPr>
        <p:spPr>
          <a:xfrm>
            <a:off x="548640" y="3794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Oydinov Bexruz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202390243</a:t>
            </a:r>
            <a:endParaRPr lang="en-US" sz="1300" dirty="0"/>
          </a:p>
        </p:txBody>
      </p:sp>
      <p:sp>
        <p:nvSpPr>
          <p:cNvPr id="10" name="Team member 2"/>
          <p:cNvSpPr txBox="1"/>
          <p:nvPr/>
        </p:nvSpPr>
        <p:spPr>
          <a:xfrm>
            <a:off x="3063240" y="379476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Murtazoyev Xondamir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202390241</a:t>
            </a:r>
            <a:endParaRPr lang="en-US" sz="1300" dirty="0"/>
          </a:p>
        </p:txBody>
      </p:sp>
      <p:sp>
        <p:nvSpPr>
          <p:cNvPr id="11" name="Team member 3"/>
          <p:cNvSpPr txBox="1"/>
          <p:nvPr/>
        </p:nvSpPr>
        <p:spPr>
          <a:xfrm>
            <a:off x="548640" y="43982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Sayfulloyev Muhammad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202390201</a:t>
            </a:r>
            <a:endParaRPr lang="en-US" sz="1300" dirty="0"/>
          </a:p>
        </p:txBody>
      </p:sp>
      <p:sp>
        <p:nvSpPr>
          <p:cNvPr id="12" name="Team member 4"/>
          <p:cNvSpPr txBox="1"/>
          <p:nvPr/>
        </p:nvSpPr>
        <p:spPr>
          <a:xfrm>
            <a:off x="3063240" y="439826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bg1"/>
                </a:solidFill>
              </a:rPr>
              <a:t>Abdumurodov Mashrab</a:t>
            </a:r>
            <a:endParaRPr lang="en-US" sz="1300" dirty="0"/>
          </a:p>
          <a:p>
            <a:pPr marL="0" indent="0">
              <a:buNone/>
            </a:pPr>
            <a:r>
              <a:rPr lang="en-US" sz="1100" dirty="0">
                <a:solidFill>
                  <a:schemeClr val="accent5"/>
                </a:solidFill>
              </a:rPr>
              <a:t>202390257</a:t>
            </a:r>
            <a:endParaRPr lang="en-US" sz="1300" dirty="0"/>
          </a:p>
        </p:txBody>
      </p:sp>
      <p:sp>
        <p:nvSpPr>
          <p:cNvPr id="13" name="Start button">
            <a:hlinkClick r:id="rId5" action="ppaction://hlinksldjump" tooltip="Open the project roadmap"/>
          </p:cNvPr>
          <p:cNvSpPr txBox="1"/>
          <p:nvPr/>
        </p:nvSpPr>
        <p:spPr>
          <a:xfrm>
            <a:off x="548640" y="3108960"/>
            <a:ext cx="2194560" cy="43891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u="sng" dirty="0">
                <a:solidFill>
                  <a:schemeClr val="tx1"/>
                </a:solidFill>
                <a:hlinkClick r:id="rId5" action="ppaction://hlinksldjump" tooltip="Open the project roadmap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Start exploring  ›</a:t>
            </a:r>
            <a:endParaRPr lang="en-US" sz="14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6"/>
                </a:solidFill>
              </a:rPr>
              <a:t>CLICK A CARD TO JUMP TO A SECTION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Project Roadmap</a:t>
            </a:r>
            <a:endParaRPr lang="en-US" sz="2800" dirty="0"/>
          </a:p>
        </p:txBody>
      </p:sp>
      <p:sp>
        <p:nvSpPr>
          <p:cNvPr id="4" name="Hub card 1"/>
          <p:cNvSpPr/>
          <p:nvPr/>
        </p:nvSpPr>
        <p:spPr>
          <a:xfrm>
            <a:off x="548640" y="155448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sp>
        <p:nvSpPr>
          <p:cNvPr id="5" name="Hub number 1"/>
          <p:cNvSpPr txBox="1"/>
          <p:nvPr/>
        </p:nvSpPr>
        <p:spPr>
          <a:xfrm>
            <a:off x="777240" y="173736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400" dirty="0"/>
          </a:p>
        </p:txBody>
      </p:sp>
      <p:sp>
        <p:nvSpPr>
          <p:cNvPr id="6" name="Hub text 1"/>
          <p:cNvSpPr txBox="1"/>
          <p:nvPr/>
        </p:nvSpPr>
        <p:spPr>
          <a:xfrm>
            <a:off x="1874520" y="17373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Introduction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Team  •  Problem</a:t>
            </a:r>
            <a:endParaRPr lang="en-US" sz="1800" dirty="0"/>
          </a:p>
        </p:txBody>
      </p:sp>
      <p:sp>
        <p:nvSpPr>
          <p:cNvPr id="7" name="Hub arrow 1 badge"/>
          <p:cNvSpPr/>
          <p:nvPr/>
        </p:nvSpPr>
        <p:spPr>
          <a:xfrm>
            <a:off x="3886200" y="20116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Hub arrow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2125980"/>
            <a:ext cx="228600" cy="228600"/>
          </a:xfrm>
          <a:prstGeom prst="rect">
            <a:avLst/>
          </a:prstGeom>
        </p:spPr>
      </p:pic>
      <p:pic>
        <p:nvPicPr>
          <p:cNvPr id="9" name="Hub link 1" descr="preencoded.png">
            <a:hlinkClick r:id="rId4" action="ppaction://hlinksldjump" tooltip="Jump to Introduction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1554480"/>
            <a:ext cx="3931920" cy="1371600"/>
          </a:xfrm>
          <a:prstGeom prst="rect">
            <a:avLst/>
          </a:prstGeom>
        </p:spPr>
      </p:pic>
      <p:sp>
        <p:nvSpPr>
          <p:cNvPr id="10" name="Hub card 2"/>
          <p:cNvSpPr/>
          <p:nvPr/>
        </p:nvSpPr>
        <p:spPr>
          <a:xfrm>
            <a:off x="4663440" y="155448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sp>
        <p:nvSpPr>
          <p:cNvPr id="11" name="Hub number 2"/>
          <p:cNvSpPr txBox="1"/>
          <p:nvPr/>
        </p:nvSpPr>
        <p:spPr>
          <a:xfrm>
            <a:off x="4892040" y="173736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Hub text 2"/>
          <p:cNvSpPr txBox="1"/>
          <p:nvPr/>
        </p:nvSpPr>
        <p:spPr>
          <a:xfrm>
            <a:off x="5989320" y="173736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Data &amp; Features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Data  •  Cleaning  •  Features</a:t>
            </a:r>
            <a:endParaRPr lang="en-US" sz="1800" dirty="0"/>
          </a:p>
        </p:txBody>
      </p:sp>
      <p:sp>
        <p:nvSpPr>
          <p:cNvPr id="13" name="Hub arrow 2 badge"/>
          <p:cNvSpPr/>
          <p:nvPr/>
        </p:nvSpPr>
        <p:spPr>
          <a:xfrm>
            <a:off x="8001000" y="20116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4" name="Hub arrow 2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2125980"/>
            <a:ext cx="228600" cy="228600"/>
          </a:xfrm>
          <a:prstGeom prst="rect">
            <a:avLst/>
          </a:prstGeom>
        </p:spPr>
      </p:pic>
      <p:pic>
        <p:nvPicPr>
          <p:cNvPr id="15" name="Hub link 2" descr="preencoded.png">
            <a:hlinkClick r:id="rId6" action="ppaction://hlinksldjump" tooltip="Jump to Data &amp; Features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1554480"/>
            <a:ext cx="3931920" cy="1371600"/>
          </a:xfrm>
          <a:prstGeom prst="rect">
            <a:avLst/>
          </a:prstGeom>
        </p:spPr>
      </p:pic>
      <p:sp>
        <p:nvSpPr>
          <p:cNvPr id="16" name="Hub card 3"/>
          <p:cNvSpPr/>
          <p:nvPr/>
        </p:nvSpPr>
        <p:spPr>
          <a:xfrm>
            <a:off x="548640" y="310896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sp>
        <p:nvSpPr>
          <p:cNvPr id="17" name="Hub number 3"/>
          <p:cNvSpPr txBox="1"/>
          <p:nvPr/>
        </p:nvSpPr>
        <p:spPr>
          <a:xfrm>
            <a:off x="777240" y="329184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400" dirty="0"/>
          </a:p>
        </p:txBody>
      </p:sp>
      <p:sp>
        <p:nvSpPr>
          <p:cNvPr id="18" name="Hub text 3"/>
          <p:cNvSpPr txBox="1"/>
          <p:nvPr/>
        </p:nvSpPr>
        <p:spPr>
          <a:xfrm>
            <a:off x="1874520" y="329184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Analysis &amp; Model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EDA  •  Drivers  •  Weights</a:t>
            </a:r>
            <a:endParaRPr lang="en-US" sz="1800" dirty="0"/>
          </a:p>
        </p:txBody>
      </p:sp>
      <p:sp>
        <p:nvSpPr>
          <p:cNvPr id="19" name="Hub arrow 3 badge"/>
          <p:cNvSpPr/>
          <p:nvPr/>
        </p:nvSpPr>
        <p:spPr>
          <a:xfrm>
            <a:off x="3886200" y="35661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0" name="Hub arrow 3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500" y="3680460"/>
            <a:ext cx="228600" cy="228600"/>
          </a:xfrm>
          <a:prstGeom prst="rect">
            <a:avLst/>
          </a:prstGeom>
        </p:spPr>
      </p:pic>
      <p:pic>
        <p:nvPicPr>
          <p:cNvPr id="21" name="Hub link 3" descr="preencoded.png">
            <a:hlinkClick r:id="rId7" action="ppaction://hlinksldjump" tooltip="Jump to Analysis &amp; Model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108960"/>
            <a:ext cx="3931920" cy="1371600"/>
          </a:xfrm>
          <a:prstGeom prst="rect">
            <a:avLst/>
          </a:prstGeom>
        </p:spPr>
      </p:pic>
      <p:sp>
        <p:nvSpPr>
          <p:cNvPr id="22" name="Hub card 4"/>
          <p:cNvSpPr/>
          <p:nvPr/>
        </p:nvSpPr>
        <p:spPr>
          <a:xfrm>
            <a:off x="4663440" y="310896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tx2"/>
          </a:solidFill>
          <a:ln/>
        </p:spPr>
      </p:sp>
      <p:sp>
        <p:nvSpPr>
          <p:cNvPr id="23" name="Hub number 4"/>
          <p:cNvSpPr txBox="1"/>
          <p:nvPr/>
        </p:nvSpPr>
        <p:spPr>
          <a:xfrm>
            <a:off x="4892040" y="3291840"/>
            <a:ext cx="1097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400" dirty="0"/>
          </a:p>
        </p:txBody>
      </p:sp>
      <p:sp>
        <p:nvSpPr>
          <p:cNvPr id="24" name="Hub text 4"/>
          <p:cNvSpPr txBox="1"/>
          <p:nvPr/>
        </p:nvSpPr>
        <p:spPr>
          <a:xfrm>
            <a:off x="5989320" y="3291840"/>
            <a:ext cx="1965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bg1"/>
                </a:solidFill>
              </a:rPr>
              <a:t>Results &amp; Demo</a:t>
            </a:r>
            <a:endParaRPr lang="en-US" sz="18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5"/>
                </a:solidFill>
              </a:rPr>
              <a:t>Results  •  Demo  •  Q&amp;A</a:t>
            </a:r>
            <a:endParaRPr lang="en-US" sz="1800" dirty="0"/>
          </a:p>
        </p:txBody>
      </p:sp>
      <p:sp>
        <p:nvSpPr>
          <p:cNvPr id="25" name="Hub arrow 4 badge"/>
          <p:cNvSpPr/>
          <p:nvPr/>
        </p:nvSpPr>
        <p:spPr>
          <a:xfrm>
            <a:off x="8001000" y="356616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6" name="Hub arrow 4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15300" y="3680460"/>
            <a:ext cx="228600" cy="228600"/>
          </a:xfrm>
          <a:prstGeom prst="rect">
            <a:avLst/>
          </a:prstGeom>
        </p:spPr>
      </p:pic>
      <p:pic>
        <p:nvPicPr>
          <p:cNvPr id="27" name="Hub link 4" descr="preencoded.png">
            <a:hlinkClick r:id="rId8" action="ppaction://hlinksldjump" tooltip="Jump to Results &amp; Demo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3440" y="3108960"/>
            <a:ext cx="3931920" cy="1371600"/>
          </a:xfrm>
          <a:prstGeom prst="rect">
            <a:avLst/>
          </a:prstGeom>
        </p:spPr>
      </p:pic>
      <p:pic>
        <p:nvPicPr>
          <p:cNvPr id="28" name="Nav Next slide" descr="preencoded.png">
            <a:hlinkClick r:id="rId4" action="ppaction://hlinksldjump" tooltip="Next slide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9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TEAM STRUCTURE  •  SPEAKER 1: BEXRUZ OYDINOV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Team Roles &amp; Presentation Flow</a:t>
            </a:r>
            <a:endParaRPr lang="en-US" sz="2800" dirty="0"/>
          </a:p>
        </p:txBody>
      </p:sp>
      <p:sp>
        <p:nvSpPr>
          <p:cNvPr id="4" name="Member card 1"/>
          <p:cNvSpPr/>
          <p:nvPr/>
        </p:nvSpPr>
        <p:spPr>
          <a:xfrm>
            <a:off x="548640" y="1554480"/>
            <a:ext cx="1828800" cy="292608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5" name="Member 1 badge"/>
          <p:cNvSpPr/>
          <p:nvPr/>
        </p:nvSpPr>
        <p:spPr>
          <a:xfrm>
            <a:off x="731520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Member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1892808"/>
            <a:ext cx="274320" cy="274320"/>
          </a:xfrm>
          <a:prstGeom prst="rect">
            <a:avLst/>
          </a:prstGeom>
        </p:spPr>
      </p:pic>
      <p:sp>
        <p:nvSpPr>
          <p:cNvPr id="7" name="Order 1"/>
          <p:cNvSpPr txBox="1"/>
          <p:nvPr/>
        </p:nvSpPr>
        <p:spPr>
          <a:xfrm>
            <a:off x="1463040" y="1755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600" dirty="0"/>
          </a:p>
        </p:txBody>
      </p:sp>
      <p:sp>
        <p:nvSpPr>
          <p:cNvPr id="8" name="Name 1"/>
          <p:cNvSpPr txBox="1"/>
          <p:nvPr/>
        </p:nvSpPr>
        <p:spPr>
          <a:xfrm>
            <a:off x="731520" y="2468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Bexruz Oydinov</a:t>
            </a:r>
            <a:endParaRPr lang="en-US" sz="1500" dirty="0"/>
          </a:p>
        </p:txBody>
      </p:sp>
      <p:sp>
        <p:nvSpPr>
          <p:cNvPr id="9" name="Role 1"/>
          <p:cNvSpPr txBox="1"/>
          <p:nvPr/>
        </p:nvSpPr>
        <p:spPr>
          <a:xfrm>
            <a:off x="73152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Team Leader</a:t>
            </a:r>
            <a:endParaRPr lang="en-US" sz="1300" dirty="0"/>
          </a:p>
        </p:txBody>
      </p:sp>
      <p:sp>
        <p:nvSpPr>
          <p:cNvPr id="10" name="Student ID 1"/>
          <p:cNvSpPr txBox="1"/>
          <p:nvPr/>
        </p:nvSpPr>
        <p:spPr>
          <a:xfrm>
            <a:off x="731520" y="3337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ID 202390243</a:t>
            </a:r>
            <a:endParaRPr lang="en-US" sz="1200" dirty="0"/>
          </a:p>
        </p:txBody>
      </p:sp>
      <p:sp>
        <p:nvSpPr>
          <p:cNvPr id="11" name="Topic 1"/>
          <p:cNvSpPr txBox="1"/>
          <p:nvPr/>
        </p:nvSpPr>
        <p:spPr>
          <a:xfrm>
            <a:off x="731520" y="3749040"/>
            <a:ext cx="146304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Problem &amp; MLR Model</a:t>
            </a:r>
            <a:endParaRPr lang="en-US" sz="1200" dirty="0"/>
          </a:p>
        </p:txBody>
      </p:sp>
      <p:sp>
        <p:nvSpPr>
          <p:cNvPr id="12" name="Flow arrow 1"/>
          <p:cNvSpPr/>
          <p:nvPr/>
        </p:nvSpPr>
        <p:spPr>
          <a:xfrm>
            <a:off x="2418588" y="1874520"/>
            <a:ext cx="164592" cy="310896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13" name="Member card 2"/>
          <p:cNvSpPr/>
          <p:nvPr/>
        </p:nvSpPr>
        <p:spPr>
          <a:xfrm>
            <a:off x="2621310" y="1554480"/>
            <a:ext cx="1828800" cy="292608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4" name="Member 2 badge"/>
          <p:cNvSpPr/>
          <p:nvPr/>
        </p:nvSpPr>
        <p:spPr>
          <a:xfrm>
            <a:off x="2804190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Member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1350" y="1892808"/>
            <a:ext cx="274320" cy="274320"/>
          </a:xfrm>
          <a:prstGeom prst="rect">
            <a:avLst/>
          </a:prstGeom>
        </p:spPr>
      </p:pic>
      <p:sp>
        <p:nvSpPr>
          <p:cNvPr id="16" name="Order 2"/>
          <p:cNvSpPr txBox="1"/>
          <p:nvPr/>
        </p:nvSpPr>
        <p:spPr>
          <a:xfrm>
            <a:off x="3535710" y="1755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600" dirty="0"/>
          </a:p>
        </p:txBody>
      </p:sp>
      <p:sp>
        <p:nvSpPr>
          <p:cNvPr id="17" name="Name 2"/>
          <p:cNvSpPr txBox="1"/>
          <p:nvPr/>
        </p:nvSpPr>
        <p:spPr>
          <a:xfrm>
            <a:off x="2804190" y="2468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Xondamir Murtazoyev</a:t>
            </a:r>
            <a:endParaRPr lang="en-US" sz="1500" dirty="0"/>
          </a:p>
        </p:txBody>
      </p:sp>
      <p:sp>
        <p:nvSpPr>
          <p:cNvPr id="18" name="Role 2"/>
          <p:cNvSpPr txBox="1"/>
          <p:nvPr/>
        </p:nvSpPr>
        <p:spPr>
          <a:xfrm>
            <a:off x="2804190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CPO</a:t>
            </a:r>
            <a:endParaRPr lang="en-US" sz="1300" dirty="0"/>
          </a:p>
        </p:txBody>
      </p:sp>
      <p:sp>
        <p:nvSpPr>
          <p:cNvPr id="19" name="Student ID 2"/>
          <p:cNvSpPr txBox="1"/>
          <p:nvPr/>
        </p:nvSpPr>
        <p:spPr>
          <a:xfrm>
            <a:off x="2804190" y="3337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ID 202390241</a:t>
            </a:r>
            <a:endParaRPr lang="en-US" sz="1200" dirty="0"/>
          </a:p>
        </p:txBody>
      </p:sp>
      <p:sp>
        <p:nvSpPr>
          <p:cNvPr id="20" name="Topic 2"/>
          <p:cNvSpPr txBox="1"/>
          <p:nvPr/>
        </p:nvSpPr>
        <p:spPr>
          <a:xfrm>
            <a:off x="2804190" y="3749040"/>
            <a:ext cx="146304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Pipeline &amp; Features</a:t>
            </a:r>
            <a:endParaRPr lang="en-US" sz="1200" dirty="0"/>
          </a:p>
        </p:txBody>
      </p:sp>
      <p:sp>
        <p:nvSpPr>
          <p:cNvPr id="21" name="Flow arrow 2"/>
          <p:cNvSpPr/>
          <p:nvPr/>
        </p:nvSpPr>
        <p:spPr>
          <a:xfrm>
            <a:off x="4491258" y="1874520"/>
            <a:ext cx="164592" cy="310896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22" name="Member card 3"/>
          <p:cNvSpPr/>
          <p:nvPr/>
        </p:nvSpPr>
        <p:spPr>
          <a:xfrm>
            <a:off x="4693981" y="1554480"/>
            <a:ext cx="1828800" cy="292608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23" name="Member 3 badge"/>
          <p:cNvSpPr/>
          <p:nvPr/>
        </p:nvSpPr>
        <p:spPr>
          <a:xfrm>
            <a:off x="4876861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Member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4021" y="1892808"/>
            <a:ext cx="274320" cy="274320"/>
          </a:xfrm>
          <a:prstGeom prst="rect">
            <a:avLst/>
          </a:prstGeom>
        </p:spPr>
      </p:pic>
      <p:sp>
        <p:nvSpPr>
          <p:cNvPr id="25" name="Order 3"/>
          <p:cNvSpPr txBox="1"/>
          <p:nvPr/>
        </p:nvSpPr>
        <p:spPr>
          <a:xfrm>
            <a:off x="5608381" y="1755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600" dirty="0"/>
          </a:p>
        </p:txBody>
      </p:sp>
      <p:sp>
        <p:nvSpPr>
          <p:cNvPr id="26" name="Name 3"/>
          <p:cNvSpPr txBox="1"/>
          <p:nvPr/>
        </p:nvSpPr>
        <p:spPr>
          <a:xfrm>
            <a:off x="4876861" y="2468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Muhammad Sayfulloyev</a:t>
            </a:r>
            <a:endParaRPr lang="en-US" sz="1500" dirty="0"/>
          </a:p>
        </p:txBody>
      </p:sp>
      <p:sp>
        <p:nvSpPr>
          <p:cNvPr id="27" name="Role 3"/>
          <p:cNvSpPr txBox="1"/>
          <p:nvPr/>
        </p:nvSpPr>
        <p:spPr>
          <a:xfrm>
            <a:off x="4876861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Researcher</a:t>
            </a:r>
            <a:endParaRPr lang="en-US" sz="1300" dirty="0"/>
          </a:p>
        </p:txBody>
      </p:sp>
      <p:sp>
        <p:nvSpPr>
          <p:cNvPr id="28" name="Student ID 3"/>
          <p:cNvSpPr txBox="1"/>
          <p:nvPr/>
        </p:nvSpPr>
        <p:spPr>
          <a:xfrm>
            <a:off x="4876861" y="3337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ID 202390201</a:t>
            </a:r>
            <a:endParaRPr lang="en-US" sz="1200" dirty="0"/>
          </a:p>
        </p:txBody>
      </p:sp>
      <p:sp>
        <p:nvSpPr>
          <p:cNvPr id="29" name="Topic 3"/>
          <p:cNvSpPr txBox="1"/>
          <p:nvPr/>
        </p:nvSpPr>
        <p:spPr>
          <a:xfrm>
            <a:off x="4876861" y="3749040"/>
            <a:ext cx="146304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EDA &amp; Market Insights</a:t>
            </a:r>
            <a:endParaRPr lang="en-US" sz="1200" dirty="0"/>
          </a:p>
        </p:txBody>
      </p:sp>
      <p:sp>
        <p:nvSpPr>
          <p:cNvPr id="30" name="Flow arrow 3"/>
          <p:cNvSpPr/>
          <p:nvPr/>
        </p:nvSpPr>
        <p:spPr>
          <a:xfrm>
            <a:off x="6563929" y="1874520"/>
            <a:ext cx="164592" cy="310896"/>
          </a:xfrm>
          <a:prstGeom prst="chevron">
            <a:avLst/>
          </a:prstGeom>
          <a:solidFill>
            <a:schemeClr val="accent2"/>
          </a:solidFill>
          <a:ln/>
        </p:spPr>
      </p:sp>
      <p:sp>
        <p:nvSpPr>
          <p:cNvPr id="31" name="Member card 4"/>
          <p:cNvSpPr/>
          <p:nvPr/>
        </p:nvSpPr>
        <p:spPr>
          <a:xfrm>
            <a:off x="6766651" y="1554480"/>
            <a:ext cx="1828800" cy="2926080"/>
          </a:xfrm>
          <a:prstGeom prst="roundRect">
            <a:avLst>
              <a:gd name="adj" fmla="val 70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32" name="Member 4 badge"/>
          <p:cNvSpPr/>
          <p:nvPr/>
        </p:nvSpPr>
        <p:spPr>
          <a:xfrm>
            <a:off x="6949531" y="175564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3" name="Member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86691" y="1892808"/>
            <a:ext cx="274320" cy="274320"/>
          </a:xfrm>
          <a:prstGeom prst="rect">
            <a:avLst/>
          </a:prstGeom>
        </p:spPr>
      </p:pic>
      <p:sp>
        <p:nvSpPr>
          <p:cNvPr id="34" name="Order 4"/>
          <p:cNvSpPr txBox="1"/>
          <p:nvPr/>
        </p:nvSpPr>
        <p:spPr>
          <a:xfrm>
            <a:off x="7681051" y="1755648"/>
            <a:ext cx="731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600" dirty="0"/>
          </a:p>
        </p:txBody>
      </p:sp>
      <p:sp>
        <p:nvSpPr>
          <p:cNvPr id="35" name="Name 4"/>
          <p:cNvSpPr txBox="1"/>
          <p:nvPr/>
        </p:nvSpPr>
        <p:spPr>
          <a:xfrm>
            <a:off x="6949531" y="2468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Mashrab Abdumurodov</a:t>
            </a:r>
            <a:endParaRPr lang="en-US" sz="1500" dirty="0"/>
          </a:p>
        </p:txBody>
      </p:sp>
      <p:sp>
        <p:nvSpPr>
          <p:cNvPr id="36" name="Role 4"/>
          <p:cNvSpPr txBox="1"/>
          <p:nvPr/>
        </p:nvSpPr>
        <p:spPr>
          <a:xfrm>
            <a:off x="6949531" y="3063240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1"/>
                </a:solidFill>
              </a:rPr>
              <a:t>Prompt Eng</a:t>
            </a:r>
            <a:endParaRPr lang="en-US" sz="1300" dirty="0"/>
          </a:p>
        </p:txBody>
      </p:sp>
      <p:sp>
        <p:nvSpPr>
          <p:cNvPr id="37" name="Student ID 4"/>
          <p:cNvSpPr txBox="1"/>
          <p:nvPr/>
        </p:nvSpPr>
        <p:spPr>
          <a:xfrm>
            <a:off x="6949531" y="3337560"/>
            <a:ext cx="1463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ID 202390257</a:t>
            </a:r>
            <a:endParaRPr lang="en-US" sz="1200" dirty="0"/>
          </a:p>
        </p:txBody>
      </p:sp>
      <p:sp>
        <p:nvSpPr>
          <p:cNvPr id="38" name="Topic 4"/>
          <p:cNvSpPr txBox="1"/>
          <p:nvPr/>
        </p:nvSpPr>
        <p:spPr>
          <a:xfrm>
            <a:off x="6949531" y="3749040"/>
            <a:ext cx="1463040" cy="502920"/>
          </a:xfrm>
          <a:prstGeom prst="roundRect">
            <a:avLst>
              <a:gd name="adj" fmla="val 18182"/>
            </a:avLst>
          </a:prstGeom>
          <a:solidFill>
            <a:schemeClr val="tx1"/>
          </a:solidFill>
          <a:ln/>
        </p:spPr>
        <p:txBody>
          <a:bodyPr wrap="square" lIns="635" tIns="635" rIns="635" bIns="635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chemeClr val="bg1"/>
                </a:solidFill>
              </a:rPr>
              <a:t>Evaluation &amp; Web App</a:t>
            </a:r>
            <a:endParaRPr lang="en-US" sz="1200" dirty="0"/>
          </a:p>
        </p:txBody>
      </p:sp>
      <p:pic>
        <p:nvPicPr>
          <p:cNvPr id="39" name="Nav Previous slide" descr="preencoded.png">
            <a:hlinkClick r:id="rId7" action="ppaction://hlinksldjump" tooltip="Previous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40" name="Nav Project roadmap" descr="preencoded.png">
            <a:hlinkClick r:id="rId7" action="ppaction://hlinksldjump" tooltip="Project roadmap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41" name="Nav Next slide" descr="preencoded.png">
            <a:hlinkClick r:id="rId10" action="ppaction://hlinksldjump" tooltip="Next slide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4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5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7" dur="5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8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0" dur="5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1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3" dur="5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4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0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6" dur="55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5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5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PROJECT CONTEXT  •  SPEAKER 1: BEXRUZ OYDINOV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Market Problem &amp; Research Objectives</a:t>
            </a:r>
            <a:endParaRPr lang="en-US" sz="2800" dirty="0"/>
          </a:p>
        </p:txBody>
      </p:sp>
      <p:sp>
        <p:nvSpPr>
          <p:cNvPr id="4" name="Objective card 1"/>
          <p:cNvSpPr/>
          <p:nvPr/>
        </p:nvSpPr>
        <p:spPr>
          <a:xfrm>
            <a:off x="548640" y="1508760"/>
            <a:ext cx="4892040" cy="667512"/>
          </a:xfrm>
          <a:prstGeom prst="roundRect">
            <a:avLst>
              <a:gd name="adj" fmla="val 19178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5" name="Objective 1 badge"/>
          <p:cNvSpPr/>
          <p:nvPr/>
        </p:nvSpPr>
        <p:spPr>
          <a:xfrm>
            <a:off x="713232" y="161391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Objective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28216"/>
            <a:ext cx="228600" cy="228600"/>
          </a:xfrm>
          <a:prstGeom prst="rect">
            <a:avLst/>
          </a:prstGeom>
        </p:spPr>
      </p:pic>
      <p:sp>
        <p:nvSpPr>
          <p:cNvPr id="7" name="Objective text 1"/>
          <p:cNvSpPr txBox="1"/>
          <p:nvPr/>
        </p:nvSpPr>
        <p:spPr>
          <a:xfrm>
            <a:off x="1325880" y="150876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Subjective Pricing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Wide valuation gaps across Tashkent listings.</a:t>
            </a:r>
            <a:endParaRPr lang="en-US" sz="1500" dirty="0"/>
          </a:p>
        </p:txBody>
      </p:sp>
      <p:sp>
        <p:nvSpPr>
          <p:cNvPr id="8" name="Objective card 2"/>
          <p:cNvSpPr/>
          <p:nvPr/>
        </p:nvSpPr>
        <p:spPr>
          <a:xfrm>
            <a:off x="548640" y="2286000"/>
            <a:ext cx="4892040" cy="667512"/>
          </a:xfrm>
          <a:prstGeom prst="roundRect">
            <a:avLst>
              <a:gd name="adj" fmla="val 19178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9" name="Objective 2 badge"/>
          <p:cNvSpPr/>
          <p:nvPr/>
        </p:nvSpPr>
        <p:spPr>
          <a:xfrm>
            <a:off x="713232" y="2391156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Objective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" y="2505456"/>
            <a:ext cx="228600" cy="228600"/>
          </a:xfrm>
          <a:prstGeom prst="rect">
            <a:avLst/>
          </a:prstGeom>
        </p:spPr>
      </p:pic>
      <p:sp>
        <p:nvSpPr>
          <p:cNvPr id="11" name="Objective text 2"/>
          <p:cNvSpPr txBox="1"/>
          <p:nvPr/>
        </p:nvSpPr>
        <p:spPr>
          <a:xfrm>
            <a:off x="1325880" y="228600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Core Objective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Predict fair USD value via regression.</a:t>
            </a:r>
            <a:endParaRPr lang="en-US" sz="1500" dirty="0"/>
          </a:p>
        </p:txBody>
      </p:sp>
      <p:sp>
        <p:nvSpPr>
          <p:cNvPr id="12" name="Objective card 3"/>
          <p:cNvSpPr/>
          <p:nvPr/>
        </p:nvSpPr>
        <p:spPr>
          <a:xfrm>
            <a:off x="548640" y="3063240"/>
            <a:ext cx="4892040" cy="667512"/>
          </a:xfrm>
          <a:prstGeom prst="roundRect">
            <a:avLst>
              <a:gd name="adj" fmla="val 19178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3" name="Objective 3 badge"/>
          <p:cNvSpPr/>
          <p:nvPr/>
        </p:nvSpPr>
        <p:spPr>
          <a:xfrm>
            <a:off x="713232" y="316839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4" name="Objective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3282696"/>
            <a:ext cx="228600" cy="228600"/>
          </a:xfrm>
          <a:prstGeom prst="rect">
            <a:avLst/>
          </a:prstGeom>
        </p:spPr>
      </p:pic>
      <p:sp>
        <p:nvSpPr>
          <p:cNvPr id="15" name="Objective text 3"/>
          <p:cNvSpPr txBox="1"/>
          <p:nvPr/>
        </p:nvSpPr>
        <p:spPr>
          <a:xfrm>
            <a:off x="1325880" y="306324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Spatial Factor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Quantify price premiums across 12 districts.</a:t>
            </a:r>
            <a:endParaRPr lang="en-US" sz="1500" dirty="0"/>
          </a:p>
        </p:txBody>
      </p:sp>
      <p:sp>
        <p:nvSpPr>
          <p:cNvPr id="16" name="Objective card 4"/>
          <p:cNvSpPr/>
          <p:nvPr/>
        </p:nvSpPr>
        <p:spPr>
          <a:xfrm>
            <a:off x="548640" y="3840480"/>
            <a:ext cx="4892040" cy="667512"/>
          </a:xfrm>
          <a:prstGeom prst="roundRect">
            <a:avLst>
              <a:gd name="adj" fmla="val 19178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7" name="Objective 4 badge"/>
          <p:cNvSpPr/>
          <p:nvPr/>
        </p:nvSpPr>
        <p:spPr>
          <a:xfrm>
            <a:off x="713232" y="394563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Objective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" y="4059936"/>
            <a:ext cx="228600" cy="228600"/>
          </a:xfrm>
          <a:prstGeom prst="rect">
            <a:avLst/>
          </a:prstGeom>
        </p:spPr>
      </p:pic>
      <p:sp>
        <p:nvSpPr>
          <p:cNvPr id="19" name="Objective text 4"/>
          <p:cNvSpPr txBox="1"/>
          <p:nvPr/>
        </p:nvSpPr>
        <p:spPr>
          <a:xfrm>
            <a:off x="1325880" y="3840480"/>
            <a:ext cx="4023360" cy="6675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Interpretability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Measure exact dollar impact per feature.</a:t>
            </a:r>
            <a:endParaRPr lang="en-US" sz="1500" dirty="0"/>
          </a:p>
        </p:txBody>
      </p:sp>
      <p:pic>
        <p:nvPicPr>
          <p:cNvPr id="20" name="Tashkent aerial photo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06440" y="1508760"/>
            <a:ext cx="2788920" cy="3063240"/>
          </a:xfrm>
          <a:prstGeom prst="rect">
            <a:avLst/>
          </a:prstGeom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pic>
      <p:pic>
        <p:nvPicPr>
          <p:cNvPr id="21" name="Nav Previous slide" descr="preencoded.png">
            <a:hlinkClick r:id="rId8" action="ppaction://hlinksldjump" tooltip="Previous slide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22" name="Nav Project roadmap" descr="preencoded.png">
            <a:hlinkClick r:id="rId10" action="ppaction://hlinksldjump" tooltip="Project roadmap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23" name="Nav Next slide" descr="preencoded.png">
            <a:hlinkClick r:id="rId12" action="ppaction://hlinksldjump" tooltip="Next slide"/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6"/>
                </a:solidFill>
              </a:rPr>
              <a:t>DATA SOURCE  •  SPEAKER 2: XONDAMIR MURTAZOYEV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Uybor.uz Tashkent Real Estate Dataset</a:t>
            </a:r>
            <a:endParaRPr lang="en-US" sz="2800" dirty="0"/>
          </a:p>
        </p:txBody>
      </p:sp>
      <p:sp>
        <p:nvSpPr>
          <p:cNvPr id="4" name="Listings stat"/>
          <p:cNvSpPr txBox="1"/>
          <p:nvPr/>
        </p:nvSpPr>
        <p:spPr>
          <a:xfrm>
            <a:off x="548640" y="1371600"/>
            <a:ext cx="48463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7,421</a:t>
            </a:r>
            <a:endParaRPr lang="en-US" sz="10800" dirty="0"/>
          </a:p>
        </p:txBody>
      </p:sp>
      <p:sp>
        <p:nvSpPr>
          <p:cNvPr id="5" name="Stat label"/>
          <p:cNvSpPr txBox="1"/>
          <p:nvPr/>
        </p:nvSpPr>
        <p:spPr>
          <a:xfrm>
            <a:off x="548640" y="310896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b="1" dirty="0">
                <a:solidFill>
                  <a:schemeClr val="bg1"/>
                </a:solidFill>
              </a:rPr>
              <a:t>Scraped Apartment Listings Across 12 Tashkent Districts</a:t>
            </a:r>
            <a:endParaRPr lang="en-US" sz="2000" dirty="0"/>
          </a:p>
        </p:txBody>
      </p:sp>
      <p:sp>
        <p:nvSpPr>
          <p:cNvPr id="6" name="Attributes panel"/>
          <p:cNvSpPr/>
          <p:nvPr/>
        </p:nvSpPr>
        <p:spPr>
          <a:xfrm>
            <a:off x="5577840" y="1508760"/>
            <a:ext cx="3017520" cy="3017520"/>
          </a:xfrm>
          <a:prstGeom prst="roundRect">
            <a:avLst>
              <a:gd name="adj" fmla="val 4242"/>
            </a:avLst>
          </a:prstGeom>
          <a:solidFill>
            <a:schemeClr val="tx2"/>
          </a:solidFill>
          <a:ln/>
        </p:spPr>
      </p:sp>
      <p:sp>
        <p:nvSpPr>
          <p:cNvPr id="7" name="Attributes header"/>
          <p:cNvSpPr txBox="1"/>
          <p:nvPr/>
        </p:nvSpPr>
        <p:spPr>
          <a:xfrm>
            <a:off x="5852160" y="1737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2"/>
                </a:solidFill>
              </a:rPr>
              <a:t>9 RAW ATTRIBUTES</a:t>
            </a:r>
            <a:endParaRPr lang="en-US" sz="1200" dirty="0"/>
          </a:p>
        </p:txBody>
      </p:sp>
      <p:sp>
        <p:nvSpPr>
          <p:cNvPr id="8" name="Dot 1"/>
          <p:cNvSpPr/>
          <p:nvPr/>
        </p:nvSpPr>
        <p:spPr>
          <a:xfrm>
            <a:off x="5852160" y="2322576"/>
            <a:ext cx="164592" cy="16459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9" name="Attribute 1"/>
          <p:cNvSpPr txBox="1"/>
          <p:nvPr/>
        </p:nvSpPr>
        <p:spPr>
          <a:xfrm>
            <a:off x="6172200" y="22402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Area (m²)</a:t>
            </a:r>
            <a:endParaRPr lang="en-US" sz="1500" dirty="0"/>
          </a:p>
        </p:txBody>
      </p:sp>
      <p:sp>
        <p:nvSpPr>
          <p:cNvPr id="10" name="Dot 2"/>
          <p:cNvSpPr/>
          <p:nvPr/>
        </p:nvSpPr>
        <p:spPr>
          <a:xfrm>
            <a:off x="5852160" y="2779776"/>
            <a:ext cx="164592" cy="16459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1" name="Attribute 2"/>
          <p:cNvSpPr txBox="1"/>
          <p:nvPr/>
        </p:nvSpPr>
        <p:spPr>
          <a:xfrm>
            <a:off x="6172200" y="26974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Rooms</a:t>
            </a:r>
            <a:endParaRPr lang="en-US" sz="1500" dirty="0"/>
          </a:p>
        </p:txBody>
      </p:sp>
      <p:sp>
        <p:nvSpPr>
          <p:cNvPr id="12" name="Dot 3"/>
          <p:cNvSpPr/>
          <p:nvPr/>
        </p:nvSpPr>
        <p:spPr>
          <a:xfrm>
            <a:off x="5852160" y="3236976"/>
            <a:ext cx="164592" cy="16459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3" name="Attribute 3"/>
          <p:cNvSpPr txBox="1"/>
          <p:nvPr/>
        </p:nvSpPr>
        <p:spPr>
          <a:xfrm>
            <a:off x="6172200" y="31546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Floor level</a:t>
            </a:r>
            <a:endParaRPr lang="en-US" sz="1500" dirty="0"/>
          </a:p>
        </p:txBody>
      </p:sp>
      <p:sp>
        <p:nvSpPr>
          <p:cNvPr id="14" name="Dot 4"/>
          <p:cNvSpPr/>
          <p:nvPr/>
        </p:nvSpPr>
        <p:spPr>
          <a:xfrm>
            <a:off x="5852160" y="3694176"/>
            <a:ext cx="164592" cy="16459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5" name="Attribute 4"/>
          <p:cNvSpPr txBox="1"/>
          <p:nvPr/>
        </p:nvSpPr>
        <p:spPr>
          <a:xfrm>
            <a:off x="6172200" y="36118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Price (USD)</a:t>
            </a:r>
            <a:endParaRPr lang="en-US" sz="1500" dirty="0"/>
          </a:p>
        </p:txBody>
      </p:sp>
      <p:sp>
        <p:nvSpPr>
          <p:cNvPr id="16" name="Dot 5"/>
          <p:cNvSpPr/>
          <p:nvPr/>
        </p:nvSpPr>
        <p:spPr>
          <a:xfrm>
            <a:off x="5852160" y="4151376"/>
            <a:ext cx="164592" cy="164592"/>
          </a:xfrm>
          <a:prstGeom prst="ellipse">
            <a:avLst/>
          </a:prstGeom>
          <a:solidFill>
            <a:schemeClr val="accent6"/>
          </a:solidFill>
          <a:ln/>
        </p:spPr>
      </p:sp>
      <p:sp>
        <p:nvSpPr>
          <p:cNvPr id="17" name="Attribute 5"/>
          <p:cNvSpPr txBox="1"/>
          <p:nvPr/>
        </p:nvSpPr>
        <p:spPr>
          <a:xfrm>
            <a:off x="6172200" y="406908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bg1"/>
                </a:solidFill>
              </a:rPr>
              <a:t>GPS coordinates</a:t>
            </a:r>
            <a:endParaRPr lang="en-US" sz="1500" dirty="0"/>
          </a:p>
        </p:txBody>
      </p:sp>
      <p:pic>
        <p:nvPicPr>
          <p:cNvPr id="18" name="Nav Previous slide" descr="preencoded.png">
            <a:hlinkClick r:id="rId3" action="ppaction://hlinksldjump" tooltip="Previous slide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19" name="Nav Project roadmap" descr="preencoded.png">
            <a:hlinkClick r:id="rId5" action="ppaction://hlinksldjump" tooltip="Project roadma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20" name="Nav Next slide" descr="preencoded.png">
            <a:hlinkClick r:id="rId7" action="ppaction://hlinksldjump" tooltip="Next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88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11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13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154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PREPROCESSING  •  SPEAKER 2: XONDAMIR MURTAZOYEV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Four-Stage Data Cleaning Pipeline</a:t>
            </a:r>
            <a:endParaRPr lang="en-US" sz="2800" dirty="0"/>
          </a:p>
        </p:txBody>
      </p:sp>
      <p:sp>
        <p:nvSpPr>
          <p:cNvPr id="4" name="Step card 1"/>
          <p:cNvSpPr/>
          <p:nvPr/>
        </p:nvSpPr>
        <p:spPr>
          <a:xfrm>
            <a:off x="548640" y="1554480"/>
            <a:ext cx="1783080" cy="2926080"/>
          </a:xfrm>
          <a:prstGeom prst="roundRect">
            <a:avLst>
              <a:gd name="adj" fmla="val 717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5" name="Step 1 badge"/>
          <p:cNvSpPr/>
          <p:nvPr/>
        </p:nvSpPr>
        <p:spPr>
          <a:xfrm>
            <a:off x="731520" y="1755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Step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250" y="1881378"/>
            <a:ext cx="251460" cy="251460"/>
          </a:xfrm>
          <a:prstGeom prst="rect">
            <a:avLst/>
          </a:prstGeom>
        </p:spPr>
      </p:pic>
      <p:sp>
        <p:nvSpPr>
          <p:cNvPr id="7" name="Step number 1"/>
          <p:cNvSpPr txBox="1"/>
          <p:nvPr/>
        </p:nvSpPr>
        <p:spPr>
          <a:xfrm>
            <a:off x="1463040" y="173736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800" dirty="0"/>
          </a:p>
        </p:txBody>
      </p:sp>
      <p:sp>
        <p:nvSpPr>
          <p:cNvPr id="8" name="Step title 1"/>
          <p:cNvSpPr txBox="1"/>
          <p:nvPr/>
        </p:nvSpPr>
        <p:spPr>
          <a:xfrm>
            <a:off x="731520" y="246888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Deduplication</a:t>
            </a:r>
            <a:endParaRPr lang="en-US" sz="1600" dirty="0"/>
          </a:p>
        </p:txBody>
      </p:sp>
      <p:sp>
        <p:nvSpPr>
          <p:cNvPr id="9" name="Step detail 1"/>
          <p:cNvSpPr txBox="1"/>
          <p:nvPr/>
        </p:nvSpPr>
        <p:spPr>
          <a:xfrm>
            <a:off x="73152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Dropped </a:t>
            </a:r>
            <a:r>
              <a:rPr lang="en-US" sz="1400" b="1" dirty="0">
                <a:solidFill>
                  <a:schemeClr val="accent1"/>
                </a:solidFill>
              </a:rPr>
              <a:t>696</a:t>
            </a:r>
            <a:r>
              <a:rPr lang="en-US" sz="1400" dirty="0">
                <a:solidFill>
                  <a:schemeClr val="accent4"/>
                </a:solidFill>
              </a:rPr>
              <a:t> duplicate rows.</a:t>
            </a:r>
            <a:endParaRPr lang="en-US" sz="1400" dirty="0"/>
          </a:p>
        </p:txBody>
      </p:sp>
      <p:sp>
        <p:nvSpPr>
          <p:cNvPr id="10" name="Pipeline arrow 1"/>
          <p:cNvSpPr/>
          <p:nvPr/>
        </p:nvSpPr>
        <p:spPr>
          <a:xfrm>
            <a:off x="2382012" y="1874520"/>
            <a:ext cx="20116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1" name="Step card 2"/>
          <p:cNvSpPr/>
          <p:nvPr/>
        </p:nvSpPr>
        <p:spPr>
          <a:xfrm>
            <a:off x="2636490" y="1554480"/>
            <a:ext cx="1783080" cy="2926080"/>
          </a:xfrm>
          <a:prstGeom prst="roundRect">
            <a:avLst>
              <a:gd name="adj" fmla="val 717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2" name="Step 2 badge"/>
          <p:cNvSpPr/>
          <p:nvPr/>
        </p:nvSpPr>
        <p:spPr>
          <a:xfrm>
            <a:off x="2819370" y="1755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Step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45100" y="1881378"/>
            <a:ext cx="251460" cy="251460"/>
          </a:xfrm>
          <a:prstGeom prst="rect">
            <a:avLst/>
          </a:prstGeom>
        </p:spPr>
      </p:pic>
      <p:sp>
        <p:nvSpPr>
          <p:cNvPr id="14" name="Step number 2"/>
          <p:cNvSpPr txBox="1"/>
          <p:nvPr/>
        </p:nvSpPr>
        <p:spPr>
          <a:xfrm>
            <a:off x="3550890" y="173736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800" dirty="0"/>
          </a:p>
        </p:txBody>
      </p:sp>
      <p:sp>
        <p:nvSpPr>
          <p:cNvPr id="15" name="Step title 2"/>
          <p:cNvSpPr txBox="1"/>
          <p:nvPr/>
        </p:nvSpPr>
        <p:spPr>
          <a:xfrm>
            <a:off x="2819370" y="246888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Floor Logic Check</a:t>
            </a:r>
            <a:endParaRPr lang="en-US" sz="1600" dirty="0"/>
          </a:p>
        </p:txBody>
      </p:sp>
      <p:sp>
        <p:nvSpPr>
          <p:cNvPr id="16" name="Step detail 2"/>
          <p:cNvSpPr txBox="1"/>
          <p:nvPr/>
        </p:nvSpPr>
        <p:spPr>
          <a:xfrm>
            <a:off x="2819370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Enforced level below max_levels.</a:t>
            </a:r>
            <a:endParaRPr lang="en-US" sz="1400" dirty="0"/>
          </a:p>
        </p:txBody>
      </p:sp>
      <p:sp>
        <p:nvSpPr>
          <p:cNvPr id="17" name="Pipeline arrow 2"/>
          <p:cNvSpPr/>
          <p:nvPr/>
        </p:nvSpPr>
        <p:spPr>
          <a:xfrm>
            <a:off x="4469862" y="1874520"/>
            <a:ext cx="20116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18" name="Step card 3"/>
          <p:cNvSpPr/>
          <p:nvPr/>
        </p:nvSpPr>
        <p:spPr>
          <a:xfrm>
            <a:off x="4724339" y="1554480"/>
            <a:ext cx="1783080" cy="2926080"/>
          </a:xfrm>
          <a:prstGeom prst="roundRect">
            <a:avLst>
              <a:gd name="adj" fmla="val 717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9" name="Step 3 badge"/>
          <p:cNvSpPr/>
          <p:nvPr/>
        </p:nvSpPr>
        <p:spPr>
          <a:xfrm>
            <a:off x="4907219" y="175564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Step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32949" y="1881378"/>
            <a:ext cx="251460" cy="251460"/>
          </a:xfrm>
          <a:prstGeom prst="rect">
            <a:avLst/>
          </a:prstGeom>
        </p:spPr>
      </p:pic>
      <p:sp>
        <p:nvSpPr>
          <p:cNvPr id="21" name="Step number 3"/>
          <p:cNvSpPr txBox="1"/>
          <p:nvPr/>
        </p:nvSpPr>
        <p:spPr>
          <a:xfrm>
            <a:off x="5638739" y="173736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800" dirty="0"/>
          </a:p>
        </p:txBody>
      </p:sp>
      <p:sp>
        <p:nvSpPr>
          <p:cNvPr id="22" name="Step title 3"/>
          <p:cNvSpPr txBox="1"/>
          <p:nvPr/>
        </p:nvSpPr>
        <p:spPr>
          <a:xfrm>
            <a:off x="4907219" y="246888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Outlier Trimming</a:t>
            </a:r>
            <a:endParaRPr lang="en-US" sz="1600" dirty="0"/>
          </a:p>
        </p:txBody>
      </p:sp>
      <p:sp>
        <p:nvSpPr>
          <p:cNvPr id="23" name="Step detail 3"/>
          <p:cNvSpPr txBox="1"/>
          <p:nvPr/>
        </p:nvSpPr>
        <p:spPr>
          <a:xfrm>
            <a:off x="4907219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Filtered 1st to 99th percentiles.</a:t>
            </a:r>
            <a:endParaRPr lang="en-US" sz="1400" dirty="0"/>
          </a:p>
        </p:txBody>
      </p:sp>
      <p:sp>
        <p:nvSpPr>
          <p:cNvPr id="24" name="Pipeline arrow 3"/>
          <p:cNvSpPr/>
          <p:nvPr/>
        </p:nvSpPr>
        <p:spPr>
          <a:xfrm>
            <a:off x="6557711" y="1874520"/>
            <a:ext cx="201168" cy="274320"/>
          </a:xfrm>
          <a:prstGeom prst="rightArrow">
            <a:avLst/>
          </a:prstGeom>
          <a:solidFill>
            <a:schemeClr val="accent2"/>
          </a:solidFill>
          <a:ln/>
        </p:spPr>
      </p:sp>
      <p:sp>
        <p:nvSpPr>
          <p:cNvPr id="25" name="Step card 4"/>
          <p:cNvSpPr/>
          <p:nvPr/>
        </p:nvSpPr>
        <p:spPr>
          <a:xfrm>
            <a:off x="6812189" y="1554480"/>
            <a:ext cx="1783080" cy="2926080"/>
          </a:xfrm>
          <a:prstGeom prst="roundRect">
            <a:avLst>
              <a:gd name="adj" fmla="val 7179"/>
            </a:avLst>
          </a:prstGeom>
          <a:solidFill>
            <a:schemeClr val="tx1"/>
          </a:solidFill>
          <a:ln/>
        </p:spPr>
      </p:sp>
      <p:sp>
        <p:nvSpPr>
          <p:cNvPr id="26" name="Step 4 badge"/>
          <p:cNvSpPr/>
          <p:nvPr/>
        </p:nvSpPr>
        <p:spPr>
          <a:xfrm>
            <a:off x="6995069" y="1755648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27" name="Step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20799" y="1881378"/>
            <a:ext cx="251460" cy="251460"/>
          </a:xfrm>
          <a:prstGeom prst="rect">
            <a:avLst/>
          </a:prstGeom>
        </p:spPr>
      </p:pic>
      <p:sp>
        <p:nvSpPr>
          <p:cNvPr id="28" name="Step number 4"/>
          <p:cNvSpPr txBox="1"/>
          <p:nvPr/>
        </p:nvSpPr>
        <p:spPr>
          <a:xfrm>
            <a:off x="7726589" y="1737360"/>
            <a:ext cx="685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800" dirty="0"/>
          </a:p>
        </p:txBody>
      </p:sp>
      <p:sp>
        <p:nvSpPr>
          <p:cNvPr id="29" name="Step title 4"/>
          <p:cNvSpPr txBox="1"/>
          <p:nvPr/>
        </p:nvSpPr>
        <p:spPr>
          <a:xfrm>
            <a:off x="6995069" y="2468880"/>
            <a:ext cx="1417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Clean Dataset</a:t>
            </a:r>
            <a:endParaRPr lang="en-US" sz="1600" dirty="0"/>
          </a:p>
        </p:txBody>
      </p:sp>
      <p:sp>
        <p:nvSpPr>
          <p:cNvPr id="30" name="Step detail 4"/>
          <p:cNvSpPr txBox="1"/>
          <p:nvPr/>
        </p:nvSpPr>
        <p:spPr>
          <a:xfrm>
            <a:off x="6995069" y="3108960"/>
            <a:ext cx="1417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6,360</a:t>
            </a:r>
            <a:r>
              <a:rPr lang="en-US" sz="1400" dirty="0">
                <a:solidFill>
                  <a:schemeClr val="accent5"/>
                </a:solidFill>
              </a:rPr>
              <a:t> verified housing records.</a:t>
            </a:r>
            <a:endParaRPr lang="en-US" sz="1400" dirty="0"/>
          </a:p>
        </p:txBody>
      </p:sp>
      <p:pic>
        <p:nvPicPr>
          <p:cNvPr id="31" name="Nav Previous slide" descr="preencoded.png">
            <a:hlinkClick r:id="rId7" action="ppaction://hlinksldjump" tooltip="Previous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32" name="Nav Project roadmap" descr="preencoded.png">
            <a:hlinkClick r:id="rId9" action="ppaction://hlinksldjump" tooltip="Project roadma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33" name="Nav Next slide" descr="preencoded.png">
            <a:hlinkClick r:id="rId11" action="ppaction://hlinksldjump" tooltip="Next slid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DOMAIN FEATURES  •  SPEAKER 2: XONDAMIR MURTAZOYEV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Engineered Features for Regression</a:t>
            </a:r>
            <a:endParaRPr lang="en-US" sz="2800" dirty="0"/>
          </a:p>
        </p:txBody>
      </p:sp>
      <p:sp>
        <p:nvSpPr>
          <p:cNvPr id="4" name="Feature card 1"/>
          <p:cNvSpPr/>
          <p:nvPr/>
        </p:nvSpPr>
        <p:spPr>
          <a:xfrm>
            <a:off x="548640" y="155448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5" name="Feature 1 badge"/>
          <p:cNvSpPr/>
          <p:nvPr/>
        </p:nvSpPr>
        <p:spPr>
          <a:xfrm>
            <a:off x="777240" y="192024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Feature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7260" y="2080260"/>
            <a:ext cx="320040" cy="320040"/>
          </a:xfrm>
          <a:prstGeom prst="rect">
            <a:avLst/>
          </a:prstGeom>
        </p:spPr>
      </p:pic>
      <p:sp>
        <p:nvSpPr>
          <p:cNvPr id="7" name="Feature text 1"/>
          <p:cNvSpPr txBox="1"/>
          <p:nvPr/>
        </p:nvSpPr>
        <p:spPr>
          <a:xfrm>
            <a:off x="1645920" y="16459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Center Proximity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dist_from_center_km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Haversine distance to Amir Temur Square.</a:t>
            </a:r>
            <a:endParaRPr lang="en-US" sz="1600" dirty="0"/>
          </a:p>
        </p:txBody>
      </p:sp>
      <p:sp>
        <p:nvSpPr>
          <p:cNvPr id="8" name="Feature card 2"/>
          <p:cNvSpPr/>
          <p:nvPr/>
        </p:nvSpPr>
        <p:spPr>
          <a:xfrm>
            <a:off x="4663440" y="155448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9" name="Feature 2 badge"/>
          <p:cNvSpPr/>
          <p:nvPr/>
        </p:nvSpPr>
        <p:spPr>
          <a:xfrm>
            <a:off x="4892040" y="192024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Feature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52060" y="2080260"/>
            <a:ext cx="320040" cy="320040"/>
          </a:xfrm>
          <a:prstGeom prst="rect">
            <a:avLst/>
          </a:prstGeom>
        </p:spPr>
      </p:pic>
      <p:sp>
        <p:nvSpPr>
          <p:cNvPr id="11" name="Feature text 2"/>
          <p:cNvSpPr txBox="1"/>
          <p:nvPr/>
        </p:nvSpPr>
        <p:spPr>
          <a:xfrm>
            <a:off x="5760720" y="164592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Floor Position Indicators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Binary flags for top and first floors.</a:t>
            </a:r>
            <a:endParaRPr lang="en-US" sz="1600" dirty="0"/>
          </a:p>
        </p:txBody>
      </p:sp>
      <p:sp>
        <p:nvSpPr>
          <p:cNvPr id="12" name="Feature card 3"/>
          <p:cNvSpPr/>
          <p:nvPr/>
        </p:nvSpPr>
        <p:spPr>
          <a:xfrm>
            <a:off x="548640" y="310896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3" name="Feature 3 badge"/>
          <p:cNvSpPr/>
          <p:nvPr/>
        </p:nvSpPr>
        <p:spPr>
          <a:xfrm>
            <a:off x="777240" y="3474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14" name="Feature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7260" y="3634740"/>
            <a:ext cx="320040" cy="320040"/>
          </a:xfrm>
          <a:prstGeom prst="rect">
            <a:avLst/>
          </a:prstGeom>
        </p:spPr>
      </p:pic>
      <p:sp>
        <p:nvSpPr>
          <p:cNvPr id="15" name="Feature text 3"/>
          <p:cNvSpPr txBox="1"/>
          <p:nvPr/>
        </p:nvSpPr>
        <p:spPr>
          <a:xfrm>
            <a:off x="164592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Room Spaciousness</a:t>
            </a:r>
            <a:endParaRPr lang="en-US" sz="1600" dirty="0"/>
          </a:p>
          <a:p>
            <a:pPr marL="0" indent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sqm_per_room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Total area divided by room count.</a:t>
            </a:r>
            <a:endParaRPr lang="en-US" sz="1600" dirty="0"/>
          </a:p>
        </p:txBody>
      </p:sp>
      <p:sp>
        <p:nvSpPr>
          <p:cNvPr id="16" name="Feature card 4"/>
          <p:cNvSpPr/>
          <p:nvPr/>
        </p:nvSpPr>
        <p:spPr>
          <a:xfrm>
            <a:off x="4663440" y="3108960"/>
            <a:ext cx="3931920" cy="1371600"/>
          </a:xfrm>
          <a:prstGeom prst="roundRect">
            <a:avLst>
              <a:gd name="adj" fmla="val 9333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7" name="Feature 4 badge"/>
          <p:cNvSpPr/>
          <p:nvPr/>
        </p:nvSpPr>
        <p:spPr>
          <a:xfrm>
            <a:off x="4892040" y="3474720"/>
            <a:ext cx="640080" cy="640080"/>
          </a:xfrm>
          <a:prstGeom prst="ellipse">
            <a:avLst/>
          </a:prstGeom>
          <a:solidFill>
            <a:schemeClr val="tx2"/>
          </a:solidFill>
          <a:ln/>
        </p:spPr>
      </p:sp>
      <p:pic>
        <p:nvPicPr>
          <p:cNvPr id="18" name="Feature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52060" y="3634740"/>
            <a:ext cx="320040" cy="320040"/>
          </a:xfrm>
          <a:prstGeom prst="rect">
            <a:avLst/>
          </a:prstGeom>
        </p:spPr>
      </p:pic>
      <p:sp>
        <p:nvSpPr>
          <p:cNvPr id="19" name="Feature text 4"/>
          <p:cNvSpPr txBox="1"/>
          <p:nvPr/>
        </p:nvSpPr>
        <p:spPr>
          <a:xfrm>
            <a:off x="5760720" y="3200400"/>
            <a:ext cx="2697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1"/>
                </a:solidFill>
              </a:rPr>
              <a:t>One-Hot District Encoding</a:t>
            </a: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11 binary columns avoiding multicollinearity.</a:t>
            </a:r>
            <a:endParaRPr lang="en-US" sz="1600" dirty="0"/>
          </a:p>
        </p:txBody>
      </p:sp>
      <p:pic>
        <p:nvPicPr>
          <p:cNvPr id="20" name="Nav Previous slide" descr="preencoded.png">
            <a:hlinkClick r:id="rId7" action="ppaction://hlinksldjump" tooltip="Previous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21" name="Nav Project roadmap" descr="preencoded.png">
            <a:hlinkClick r:id="rId9" action="ppaction://hlinksldjump" tooltip="Project roadma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22" name="Nav Next slide" descr="preencoded.png">
            <a:hlinkClick r:id="rId11" action="ppaction://hlinksldjump" tooltip="Next slid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EXPLORATORY DATA ANALYSIS  •  SPEAKER 3: MUHAMMAD SAYFULLOYEV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Average Price per m² by District</a:t>
            </a:r>
            <a:endParaRPr lang="en-US" sz="2800" dirty="0"/>
          </a:p>
        </p:txBody>
      </p:sp>
      <p:sp>
        <p:nvSpPr>
          <p:cNvPr id="4" name="Chart panel"/>
          <p:cNvSpPr/>
          <p:nvPr/>
        </p:nvSpPr>
        <p:spPr>
          <a:xfrm>
            <a:off x="548640" y="1508760"/>
            <a:ext cx="5669280" cy="3063240"/>
          </a:xfrm>
          <a:prstGeom prst="roundRect">
            <a:avLst>
              <a:gd name="adj" fmla="val 417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graphicFrame>
        <p:nvGraphicFramePr>
          <p:cNvPr id="5" name="District chart"/>
          <p:cNvGraphicFramePr/>
          <p:nvPr/>
        </p:nvGraphicFramePr>
        <p:xfrm>
          <a:off x="640080" y="1600200"/>
          <a:ext cx="548640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Premium callout"/>
          <p:cNvSpPr/>
          <p:nvPr/>
        </p:nvSpPr>
        <p:spPr>
          <a:xfrm>
            <a:off x="6446520" y="1508760"/>
            <a:ext cx="2148840" cy="3063240"/>
          </a:xfrm>
          <a:prstGeom prst="roundRect">
            <a:avLst>
              <a:gd name="adj" fmla="val 5957"/>
            </a:avLst>
          </a:prstGeom>
          <a:solidFill>
            <a:schemeClr val="tx1"/>
          </a:solidFill>
          <a:ln/>
        </p:spPr>
      </p:sp>
      <p:sp>
        <p:nvSpPr>
          <p:cNvPr id="7" name="Callout label"/>
          <p:cNvSpPr txBox="1"/>
          <p:nvPr/>
        </p:nvSpPr>
        <p:spPr>
          <a:xfrm>
            <a:off x="6675120" y="1737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200" dirty="0">
                <a:solidFill>
                  <a:schemeClr val="accent6"/>
                </a:solidFill>
              </a:rPr>
              <a:t>PREMIUM GAP</a:t>
            </a:r>
            <a:endParaRPr lang="en-US" sz="1200" dirty="0"/>
          </a:p>
        </p:txBody>
      </p:sp>
      <p:sp>
        <p:nvSpPr>
          <p:cNvPr id="8" name="Callout stat"/>
          <p:cNvSpPr txBox="1"/>
          <p:nvPr/>
        </p:nvSpPr>
        <p:spPr>
          <a:xfrm>
            <a:off x="6675120" y="2103120"/>
            <a:ext cx="1737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+64%</a:t>
            </a:r>
            <a:endParaRPr lang="en-US" sz="4800" dirty="0"/>
          </a:p>
        </p:txBody>
      </p:sp>
      <p:sp>
        <p:nvSpPr>
          <p:cNvPr id="9" name="Callout text"/>
          <p:cNvSpPr txBox="1"/>
          <p:nvPr/>
        </p:nvSpPr>
        <p:spPr>
          <a:xfrm>
            <a:off x="6675120" y="3063240"/>
            <a:ext cx="17373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Mirobod ($965) vs Sergeli ($590) per square meter</a:t>
            </a:r>
            <a:endParaRPr lang="en-US" sz="1400" dirty="0"/>
          </a:p>
        </p:txBody>
      </p:sp>
      <p:pic>
        <p:nvPicPr>
          <p:cNvPr id="10" name="Nav Previous slide" descr="preencoded.png">
            <a:hlinkClick r:id="rId4" action="ppaction://hlinksldjump" tooltip="Previous 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11" name="Nav Project roadmap" descr="preencoded.png">
            <a:hlinkClick r:id="rId6" action="ppaction://hlinksldjump" tooltip="Project roadma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12" name="Nav Next slide" descr="preencoded.png">
            <a:hlinkClick r:id="rId8" action="ppaction://hlinksldjump" tooltip="Next slide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KEY DRIVERS  •  SPEAKER 3: MUHAMMAD SAYFULLOYEV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Key Price Drivers &amp; Spatial Trends</a:t>
            </a:r>
            <a:endParaRPr lang="en-US" sz="2800" dirty="0"/>
          </a:p>
        </p:txBody>
      </p:sp>
      <p:sp>
        <p:nvSpPr>
          <p:cNvPr id="4" name="Driver card 1"/>
          <p:cNvSpPr/>
          <p:nvPr/>
        </p:nvSpPr>
        <p:spPr>
          <a:xfrm>
            <a:off x="548640" y="1508760"/>
            <a:ext cx="8046720" cy="713232"/>
          </a:xfrm>
          <a:prstGeom prst="roundRect">
            <a:avLst>
              <a:gd name="adj" fmla="val 1794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5" name="Driver 1 badge"/>
          <p:cNvSpPr/>
          <p:nvPr/>
        </p:nvSpPr>
        <p:spPr>
          <a:xfrm>
            <a:off x="713232" y="1636776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Driver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532" y="1751076"/>
            <a:ext cx="228600" cy="228600"/>
          </a:xfrm>
          <a:prstGeom prst="rect">
            <a:avLst/>
          </a:prstGeom>
        </p:spPr>
      </p:pic>
      <p:sp>
        <p:nvSpPr>
          <p:cNvPr id="7" name="Driver text 1"/>
          <p:cNvSpPr txBox="1"/>
          <p:nvPr/>
        </p:nvSpPr>
        <p:spPr>
          <a:xfrm>
            <a:off x="1325880" y="1508760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Living Area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Strongest linear driver of apartment price.</a:t>
            </a:r>
            <a:endParaRPr lang="en-US" sz="1500" dirty="0"/>
          </a:p>
        </p:txBody>
      </p:sp>
      <p:sp>
        <p:nvSpPr>
          <p:cNvPr id="8" name="Bar track 1"/>
          <p:cNvSpPr/>
          <p:nvPr/>
        </p:nvSpPr>
        <p:spPr>
          <a:xfrm>
            <a:off x="4663440" y="1764792"/>
            <a:ext cx="2377440" cy="201168"/>
          </a:xfrm>
          <a:prstGeom prst="roundRect">
            <a:avLst>
              <a:gd name="adj" fmla="val 50000"/>
            </a:avLst>
          </a:prstGeom>
          <a:solidFill>
            <a:schemeClr val="accent5">
              <a:alpha val="60000"/>
            </a:schemeClr>
          </a:solidFill>
          <a:ln/>
        </p:spPr>
      </p:sp>
      <p:sp>
        <p:nvSpPr>
          <p:cNvPr id="9" name="Bar fill 1"/>
          <p:cNvSpPr/>
          <p:nvPr/>
        </p:nvSpPr>
        <p:spPr>
          <a:xfrm>
            <a:off x="4663440" y="1764792"/>
            <a:ext cx="1925726" cy="2011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0" name="Driver value 1"/>
          <p:cNvSpPr txBox="1"/>
          <p:nvPr/>
        </p:nvSpPr>
        <p:spPr>
          <a:xfrm>
            <a:off x="7178040" y="1508760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0.81</a:t>
            </a:r>
            <a:endParaRPr lang="en-US" sz="2000" dirty="0"/>
          </a:p>
        </p:txBody>
      </p:sp>
      <p:sp>
        <p:nvSpPr>
          <p:cNvPr id="11" name="Driver card 2"/>
          <p:cNvSpPr/>
          <p:nvPr/>
        </p:nvSpPr>
        <p:spPr>
          <a:xfrm>
            <a:off x="548640" y="2295144"/>
            <a:ext cx="8046720" cy="713232"/>
          </a:xfrm>
          <a:prstGeom prst="roundRect">
            <a:avLst>
              <a:gd name="adj" fmla="val 1794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2" name="Driver 2 badge"/>
          <p:cNvSpPr/>
          <p:nvPr/>
        </p:nvSpPr>
        <p:spPr>
          <a:xfrm>
            <a:off x="713232" y="24231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Driver 2 icon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32" y="2537460"/>
            <a:ext cx="228600" cy="228600"/>
          </a:xfrm>
          <a:prstGeom prst="rect">
            <a:avLst/>
          </a:prstGeom>
        </p:spPr>
      </p:pic>
      <p:sp>
        <p:nvSpPr>
          <p:cNvPr id="14" name="Driver text 2"/>
          <p:cNvSpPr txBox="1"/>
          <p:nvPr/>
        </p:nvSpPr>
        <p:spPr>
          <a:xfrm>
            <a:off x="1325880" y="2295144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Room Count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High positive correlation with total size.</a:t>
            </a:r>
            <a:endParaRPr lang="en-US" sz="1500" dirty="0"/>
          </a:p>
        </p:txBody>
      </p:sp>
      <p:sp>
        <p:nvSpPr>
          <p:cNvPr id="15" name="Bar track 2"/>
          <p:cNvSpPr/>
          <p:nvPr/>
        </p:nvSpPr>
        <p:spPr>
          <a:xfrm>
            <a:off x="4663440" y="2551176"/>
            <a:ext cx="2377440" cy="201168"/>
          </a:xfrm>
          <a:prstGeom prst="roundRect">
            <a:avLst>
              <a:gd name="adj" fmla="val 50000"/>
            </a:avLst>
          </a:prstGeom>
          <a:solidFill>
            <a:schemeClr val="accent5">
              <a:alpha val="60000"/>
            </a:schemeClr>
          </a:solidFill>
          <a:ln/>
        </p:spPr>
      </p:sp>
      <p:sp>
        <p:nvSpPr>
          <p:cNvPr id="16" name="Bar fill 2"/>
          <p:cNvSpPr/>
          <p:nvPr/>
        </p:nvSpPr>
        <p:spPr>
          <a:xfrm>
            <a:off x="4663440" y="2551176"/>
            <a:ext cx="1474013" cy="201168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</p:sp>
      <p:sp>
        <p:nvSpPr>
          <p:cNvPr id="17" name="Driver value 2"/>
          <p:cNvSpPr txBox="1"/>
          <p:nvPr/>
        </p:nvSpPr>
        <p:spPr>
          <a:xfrm>
            <a:off x="7178040" y="2295144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0.62</a:t>
            </a:r>
            <a:endParaRPr lang="en-US" sz="2000" dirty="0"/>
          </a:p>
        </p:txBody>
      </p:sp>
      <p:sp>
        <p:nvSpPr>
          <p:cNvPr id="18" name="Driver card 3"/>
          <p:cNvSpPr/>
          <p:nvPr/>
        </p:nvSpPr>
        <p:spPr>
          <a:xfrm>
            <a:off x="548640" y="3081528"/>
            <a:ext cx="8046720" cy="713232"/>
          </a:xfrm>
          <a:prstGeom prst="roundRect">
            <a:avLst>
              <a:gd name="adj" fmla="val 1794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9" name="Driver 3 badge"/>
          <p:cNvSpPr/>
          <p:nvPr/>
        </p:nvSpPr>
        <p:spPr>
          <a:xfrm>
            <a:off x="713232" y="3209544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0" name="Driver 3 icon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3323844"/>
            <a:ext cx="228600" cy="228600"/>
          </a:xfrm>
          <a:prstGeom prst="rect">
            <a:avLst/>
          </a:prstGeom>
        </p:spPr>
      </p:pic>
      <p:sp>
        <p:nvSpPr>
          <p:cNvPr id="21" name="Driver text 3"/>
          <p:cNvSpPr txBox="1"/>
          <p:nvPr/>
        </p:nvSpPr>
        <p:spPr>
          <a:xfrm>
            <a:off x="1325880" y="3081528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Center Distance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Prices drop sharply outside central ring.</a:t>
            </a:r>
            <a:endParaRPr lang="en-US" sz="1500" dirty="0"/>
          </a:p>
        </p:txBody>
      </p:sp>
      <p:sp>
        <p:nvSpPr>
          <p:cNvPr id="22" name="Bar track 3"/>
          <p:cNvSpPr/>
          <p:nvPr/>
        </p:nvSpPr>
        <p:spPr>
          <a:xfrm>
            <a:off x="4663440" y="3337560"/>
            <a:ext cx="2377440" cy="201168"/>
          </a:xfrm>
          <a:prstGeom prst="roundRect">
            <a:avLst>
              <a:gd name="adj" fmla="val 50000"/>
            </a:avLst>
          </a:prstGeom>
          <a:solidFill>
            <a:schemeClr val="accent5">
              <a:alpha val="60000"/>
            </a:schemeClr>
          </a:solidFill>
          <a:ln/>
        </p:spPr>
      </p:sp>
      <p:sp>
        <p:nvSpPr>
          <p:cNvPr id="23" name="Bar fill 3"/>
          <p:cNvSpPr/>
          <p:nvPr/>
        </p:nvSpPr>
        <p:spPr>
          <a:xfrm>
            <a:off x="4663440" y="3337560"/>
            <a:ext cx="808330" cy="201168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4" name="Driver value 3"/>
          <p:cNvSpPr txBox="1"/>
          <p:nvPr/>
        </p:nvSpPr>
        <p:spPr>
          <a:xfrm>
            <a:off x="7178040" y="3081528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 = −0.34</a:t>
            </a:r>
            <a:endParaRPr lang="en-US" sz="2000" dirty="0"/>
          </a:p>
        </p:txBody>
      </p:sp>
      <p:sp>
        <p:nvSpPr>
          <p:cNvPr id="25" name="Driver card 4"/>
          <p:cNvSpPr/>
          <p:nvPr/>
        </p:nvSpPr>
        <p:spPr>
          <a:xfrm>
            <a:off x="548640" y="3867912"/>
            <a:ext cx="8046720" cy="713232"/>
          </a:xfrm>
          <a:prstGeom prst="roundRect">
            <a:avLst>
              <a:gd name="adj" fmla="val 17949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26" name="Driver 4 badge"/>
          <p:cNvSpPr/>
          <p:nvPr/>
        </p:nvSpPr>
        <p:spPr>
          <a:xfrm>
            <a:off x="713232" y="3995928"/>
            <a:ext cx="457200" cy="45720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27" name="Driver 4 icon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7532" y="4110228"/>
            <a:ext cx="228600" cy="228600"/>
          </a:xfrm>
          <a:prstGeom prst="rect">
            <a:avLst/>
          </a:prstGeom>
        </p:spPr>
      </p:pic>
      <p:sp>
        <p:nvSpPr>
          <p:cNvPr id="28" name="Driver text 4"/>
          <p:cNvSpPr txBox="1"/>
          <p:nvPr/>
        </p:nvSpPr>
        <p:spPr>
          <a:xfrm>
            <a:off x="1325880" y="3867912"/>
            <a:ext cx="3154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</a:rPr>
              <a:t>Top Floor Discount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Top floors trade lower in unrenovated buildings.</a:t>
            </a:r>
            <a:endParaRPr lang="en-US" sz="1500" dirty="0"/>
          </a:p>
        </p:txBody>
      </p:sp>
      <p:sp>
        <p:nvSpPr>
          <p:cNvPr id="29" name="Driver value 4"/>
          <p:cNvSpPr txBox="1"/>
          <p:nvPr/>
        </p:nvSpPr>
        <p:spPr>
          <a:xfrm>
            <a:off x="7178040" y="3867912"/>
            <a:ext cx="12801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Discount</a:t>
            </a:r>
            <a:endParaRPr lang="en-US" sz="2000" dirty="0"/>
          </a:p>
        </p:txBody>
      </p:sp>
      <p:pic>
        <p:nvPicPr>
          <p:cNvPr id="30" name="Nav Previous slide" descr="preencoded.png">
            <a:hlinkClick r:id="rId7" action="ppaction://hlinksldjump" tooltip="Previous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31" name="Nav Project roadmap" descr="preencoded.png">
            <a:hlinkClick r:id="rId9" action="ppaction://hlinksldjump" tooltip="Project roadmap"/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32" name="Nav Next slide" descr="preencoded.png">
            <a:hlinkClick r:id="rId11" action="ppaction://hlinksldjump" tooltip="Next slide"/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33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2" presetClass="entr" presetSubtype="8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MODEL COEFFICIENTS  •  SPEAKER 1: BEXRUZ OYDINOV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Multiple Linear Regression Learned Weights</a:t>
            </a:r>
            <a:endParaRPr lang="en-US" sz="2800" dirty="0"/>
          </a:p>
        </p:txBody>
      </p:sp>
      <p:graphicFrame>
        <p:nvGraphicFramePr>
          <p:cNvPr id="11" name="Coefficient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8046720" cy="3008376"/>
        </p:xfrm>
        <a:graphic>
          <a:graphicData uri="http://schemas.openxmlformats.org/drawingml/2006/table">
            <a:tbl>
              <a:tblPr/>
              <a:tblGrid>
                <a:gridCol w="2468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0" spc="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 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0" spc="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LEARNED COEFFICIENT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B3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kern="0" spc="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MARKET INTERPRETATION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1B3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B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Area (size)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87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+$868.50 / m²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Marginal dollar increase per square meter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B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District: Mirobod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87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+$11,850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Executive central location premium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B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District: Yakkasaroy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87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+$9,200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Central residential district premium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B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District: Mirzo Ulugbek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0B879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+$6,450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High-demand eastern central premium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B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Distance to Center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−$1,620 / km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 drop per km from Amir Temur Square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rgbClr val="0B1B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Floor Indicator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500" b="1" dirty="0">
                          <a:solidFill>
                            <a:srgbClr val="E457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−$2,450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rgbClr val="5B6B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floor discount vs middle levels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28016" marR="128016" marT="0" marB="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AF0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pic>
        <p:nvPicPr>
          <p:cNvPr id="5" name="Nav Previous slide" descr="preencoded.png">
            <a:hlinkClick r:id="rId3" action="ppaction://hlinksldjump" tooltip="Previous slide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6" name="Nav Project roadmap" descr="preencoded.png">
            <a:hlinkClick r:id="rId5" action="ppaction://hlinksldjump" tooltip="Project roadma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7" name="Nav Next slide" descr="preencoded.png">
            <a:hlinkClick r:id="rId7" action="ppaction://hlinksldjump" tooltip="Next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6"/>
                </a:solidFill>
              </a:rPr>
              <a:t>VALIDATION RESULTS  •  SPEAKER 4: MASHRAB ABDUMURODOV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bg1"/>
                </a:solidFill>
              </a:rPr>
              <a:t>Model Evaluation on 20% Unseen Test Set</a:t>
            </a:r>
            <a:endParaRPr lang="en-US" sz="2800" dirty="0"/>
          </a:p>
        </p:txBody>
      </p:sp>
      <p:sp>
        <p:nvSpPr>
          <p:cNvPr id="4" name="R2 hero card"/>
          <p:cNvSpPr/>
          <p:nvPr/>
        </p:nvSpPr>
        <p:spPr>
          <a:xfrm>
            <a:off x="548640" y="1508760"/>
            <a:ext cx="3200400" cy="3063240"/>
          </a:xfrm>
          <a:prstGeom prst="roundRect">
            <a:avLst>
              <a:gd name="adj" fmla="val 4179"/>
            </a:avLst>
          </a:prstGeom>
          <a:solidFill>
            <a:schemeClr val="accent1"/>
          </a:solidFill>
          <a:ln/>
        </p:spPr>
      </p:sp>
      <p:sp>
        <p:nvSpPr>
          <p:cNvPr id="5" name="R2 label"/>
          <p:cNvSpPr txBox="1"/>
          <p:nvPr/>
        </p:nvSpPr>
        <p:spPr>
          <a:xfrm>
            <a:off x="822960" y="17373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bg1"/>
                </a:solidFill>
              </a:rPr>
              <a:t>Test R² Score</a:t>
            </a:r>
            <a:endParaRPr lang="en-US" sz="1600" dirty="0"/>
          </a:p>
        </p:txBody>
      </p:sp>
      <p:sp>
        <p:nvSpPr>
          <p:cNvPr id="6" name="R2 value"/>
          <p:cNvSpPr txBox="1"/>
          <p:nvPr/>
        </p:nvSpPr>
        <p:spPr>
          <a:xfrm>
            <a:off x="822960" y="210312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6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0.742</a:t>
            </a:r>
            <a:endParaRPr lang="en-US" sz="6600" dirty="0"/>
          </a:p>
        </p:txBody>
      </p:sp>
      <p:sp>
        <p:nvSpPr>
          <p:cNvPr id="7" name="R2 track"/>
          <p:cNvSpPr/>
          <p:nvPr/>
        </p:nvSpPr>
        <p:spPr>
          <a:xfrm>
            <a:off x="822960" y="3429000"/>
            <a:ext cx="2651760" cy="182880"/>
          </a:xfrm>
          <a:prstGeom prst="roundRect">
            <a:avLst>
              <a:gd name="adj" fmla="val 50000"/>
            </a:avLst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8" name="R2 fill"/>
          <p:cNvSpPr/>
          <p:nvPr/>
        </p:nvSpPr>
        <p:spPr>
          <a:xfrm>
            <a:off x="822960" y="3429000"/>
            <a:ext cx="1967606" cy="18288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</p:sp>
      <p:sp>
        <p:nvSpPr>
          <p:cNvPr id="9" name="R2 caption"/>
          <p:cNvSpPr txBox="1"/>
          <p:nvPr/>
        </p:nvSpPr>
        <p:spPr>
          <a:xfrm>
            <a:off x="822960" y="379476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</a:rPr>
              <a:t>74.2% variance explained</a:t>
            </a:r>
            <a:endParaRPr lang="en-US" sz="1400" dirty="0"/>
          </a:p>
        </p:txBody>
      </p:sp>
      <p:sp>
        <p:nvSpPr>
          <p:cNvPr id="10" name="Metric card 1"/>
          <p:cNvSpPr/>
          <p:nvPr/>
        </p:nvSpPr>
        <p:spPr>
          <a:xfrm>
            <a:off x="3977640" y="1508760"/>
            <a:ext cx="4617720" cy="914400"/>
          </a:xfrm>
          <a:prstGeom prst="roundRect">
            <a:avLst>
              <a:gd name="adj" fmla="val 14000"/>
            </a:avLst>
          </a:prstGeom>
          <a:solidFill>
            <a:schemeClr val="tx2"/>
          </a:solidFill>
          <a:ln/>
        </p:spPr>
      </p:sp>
      <p:sp>
        <p:nvSpPr>
          <p:cNvPr id="11" name="Metric value 1"/>
          <p:cNvSpPr txBox="1"/>
          <p:nvPr/>
        </p:nvSpPr>
        <p:spPr>
          <a:xfrm>
            <a:off x="4206240" y="150876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$8,900</a:t>
            </a:r>
            <a:endParaRPr lang="en-US" sz="3400" dirty="0"/>
          </a:p>
        </p:txBody>
      </p:sp>
      <p:sp>
        <p:nvSpPr>
          <p:cNvPr id="12" name="Metric text 1"/>
          <p:cNvSpPr txBox="1"/>
          <p:nvPr/>
        </p:nvSpPr>
        <p:spPr>
          <a:xfrm>
            <a:off x="6355080" y="150876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Mean Absolute Error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Average dollar deviation</a:t>
            </a:r>
            <a:endParaRPr lang="en-US" sz="1500" dirty="0"/>
          </a:p>
        </p:txBody>
      </p:sp>
      <p:sp>
        <p:nvSpPr>
          <p:cNvPr id="13" name="Metric card 2"/>
          <p:cNvSpPr/>
          <p:nvPr/>
        </p:nvSpPr>
        <p:spPr>
          <a:xfrm>
            <a:off x="3977640" y="2583180"/>
            <a:ext cx="4617720" cy="914400"/>
          </a:xfrm>
          <a:prstGeom prst="roundRect">
            <a:avLst>
              <a:gd name="adj" fmla="val 14000"/>
            </a:avLst>
          </a:prstGeom>
          <a:solidFill>
            <a:schemeClr val="tx2"/>
          </a:solidFill>
          <a:ln/>
        </p:spPr>
      </p:sp>
      <p:sp>
        <p:nvSpPr>
          <p:cNvPr id="14" name="Metric value 2"/>
          <p:cNvSpPr txBox="1"/>
          <p:nvPr/>
        </p:nvSpPr>
        <p:spPr>
          <a:xfrm>
            <a:off x="4206240" y="258318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$12,450</a:t>
            </a:r>
            <a:endParaRPr lang="en-US" sz="3400" dirty="0"/>
          </a:p>
        </p:txBody>
      </p:sp>
      <p:sp>
        <p:nvSpPr>
          <p:cNvPr id="15" name="Metric text 2"/>
          <p:cNvSpPr txBox="1"/>
          <p:nvPr/>
        </p:nvSpPr>
        <p:spPr>
          <a:xfrm>
            <a:off x="6355080" y="258318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Test RMSE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Root mean squared error</a:t>
            </a:r>
            <a:endParaRPr lang="en-US" sz="1500" dirty="0"/>
          </a:p>
        </p:txBody>
      </p:sp>
      <p:sp>
        <p:nvSpPr>
          <p:cNvPr id="16" name="Metric card 3"/>
          <p:cNvSpPr/>
          <p:nvPr/>
        </p:nvSpPr>
        <p:spPr>
          <a:xfrm>
            <a:off x="3977640" y="3657600"/>
            <a:ext cx="4617720" cy="914400"/>
          </a:xfrm>
          <a:prstGeom prst="roundRect">
            <a:avLst>
              <a:gd name="adj" fmla="val 14000"/>
            </a:avLst>
          </a:prstGeom>
          <a:solidFill>
            <a:schemeClr val="tx2"/>
          </a:solidFill>
          <a:ln/>
        </p:spPr>
      </p:sp>
      <p:sp>
        <p:nvSpPr>
          <p:cNvPr id="17" name="Metric value 3"/>
          <p:cNvSpPr txBox="1"/>
          <p:nvPr/>
        </p:nvSpPr>
        <p:spPr>
          <a:xfrm>
            <a:off x="4206240" y="3657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0.738</a:t>
            </a:r>
            <a:endParaRPr lang="en-US" sz="3400" dirty="0"/>
          </a:p>
        </p:txBody>
      </p:sp>
      <p:sp>
        <p:nvSpPr>
          <p:cNvPr id="18" name="Metric text 3"/>
          <p:cNvSpPr txBox="1"/>
          <p:nvPr/>
        </p:nvSpPr>
        <p:spPr>
          <a:xfrm>
            <a:off x="6355080" y="3657600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bg1"/>
                </a:solidFill>
              </a:rPr>
              <a:t>5-Fold CV R²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Consistent generalization</a:t>
            </a:r>
            <a:endParaRPr lang="en-US" sz="1500" dirty="0"/>
          </a:p>
        </p:txBody>
      </p:sp>
      <p:pic>
        <p:nvPicPr>
          <p:cNvPr id="19" name="Nav Previous slide" descr="preencoded.png">
            <a:hlinkClick r:id="rId3" action="ppaction://hlinksldjump" tooltip="Previous slide"/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20" name="Nav Project roadmap" descr="preencoded.png">
            <a:hlinkClick r:id="rId5" action="ppaction://hlinksldjump" tooltip="Project roadmap"/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21" name="Nav Next slide" descr="preencoded.png">
            <a:hlinkClick r:id="rId7" action="ppaction://hlinksldjump" tooltip="Next slide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22" presetClass="entr" presetSubtype="8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66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36576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chemeClr val="accent1"/>
                </a:solidFill>
              </a:rPr>
              <a:t>LIVE DEPLOYMENT  •  SPEAKER 4: MASHRAB ABDUMURODOV</a:t>
            </a:r>
            <a:endParaRPr lang="en-US" sz="1000" dirty="0"/>
          </a:p>
        </p:txBody>
      </p:sp>
      <p:sp>
        <p:nvSpPr>
          <p:cNvPr id="3" name="Text 2"/>
          <p:cNvSpPr>
            <a:spLocks noGrp="1"/>
          </p:cNvSpPr>
          <p:nvPr>
            <p:ph type="title" idx="104" hasCustomPrompt="1"/>
          </p:nvPr>
        </p:nvSpPr>
        <p:spPr>
          <a:xfrm>
            <a:off x="548640" y="5943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800" b="1" dirty="0">
                <a:solidFill>
                  <a:schemeClr val="tx1"/>
                </a:solidFill>
              </a:rPr>
              <a:t>Interactive Predictor Test Scenarios</a:t>
            </a:r>
            <a:endParaRPr lang="en-US" sz="2800" dirty="0"/>
          </a:p>
        </p:txBody>
      </p:sp>
      <p:sp>
        <p:nvSpPr>
          <p:cNvPr id="4" name="Scenario card 1"/>
          <p:cNvSpPr/>
          <p:nvPr/>
        </p:nvSpPr>
        <p:spPr>
          <a:xfrm>
            <a:off x="548640" y="1554480"/>
            <a:ext cx="2560320" cy="2926080"/>
          </a:xfrm>
          <a:prstGeom prst="roundRect">
            <a:avLst>
              <a:gd name="adj" fmla="val 5000"/>
            </a:avLst>
          </a:prstGeom>
          <a:solidFill>
            <a:schemeClr val="tx1"/>
          </a:solidFill>
          <a:ln/>
        </p:spPr>
      </p:sp>
      <p:sp>
        <p:nvSpPr>
          <p:cNvPr id="5" name="Scenario 1 badge"/>
          <p:cNvSpPr/>
          <p:nvPr/>
        </p:nvSpPr>
        <p:spPr>
          <a:xfrm>
            <a:off x="777240" y="1783080"/>
            <a:ext cx="502920" cy="5029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Scenario 1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2970" y="1908810"/>
            <a:ext cx="251460" cy="251460"/>
          </a:xfrm>
          <a:prstGeom prst="rect">
            <a:avLst/>
          </a:prstGeom>
        </p:spPr>
      </p:pic>
      <p:sp>
        <p:nvSpPr>
          <p:cNvPr id="7" name="District 1"/>
          <p:cNvSpPr txBox="1"/>
          <p:nvPr/>
        </p:nvSpPr>
        <p:spPr>
          <a:xfrm>
            <a:off x="141732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6"/>
                </a:solidFill>
              </a:rPr>
              <a:t>MIRZO ULUGBEK</a:t>
            </a:r>
            <a:endParaRPr lang="en-US" sz="1300" dirty="0"/>
          </a:p>
        </p:txBody>
      </p:sp>
      <p:sp>
        <p:nvSpPr>
          <p:cNvPr id="8" name="Price label 1"/>
          <p:cNvSpPr txBox="1"/>
          <p:nvPr/>
        </p:nvSpPr>
        <p:spPr>
          <a:xfrm>
            <a:off x="777240" y="2514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Predicted price</a:t>
            </a:r>
            <a:endParaRPr lang="en-US" sz="1200" dirty="0"/>
          </a:p>
        </p:txBody>
      </p:sp>
      <p:sp>
        <p:nvSpPr>
          <p:cNvPr id="9" name="Price 1"/>
          <p:cNvSpPr txBox="1"/>
          <p:nvPr/>
        </p:nvSpPr>
        <p:spPr>
          <a:xfrm>
            <a:off x="777240" y="2743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$65,185</a:t>
            </a:r>
            <a:endParaRPr lang="en-US" sz="4000" dirty="0"/>
          </a:p>
        </p:txBody>
      </p:sp>
      <p:sp>
        <p:nvSpPr>
          <p:cNvPr id="10" name="Spec 1-1"/>
          <p:cNvSpPr txBox="1"/>
          <p:nvPr/>
        </p:nvSpPr>
        <p:spPr>
          <a:xfrm>
            <a:off x="777240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3 rooms</a:t>
            </a:r>
            <a:endParaRPr lang="en-US" sz="1100" dirty="0"/>
          </a:p>
        </p:txBody>
      </p:sp>
      <p:sp>
        <p:nvSpPr>
          <p:cNvPr id="11" name="Spec 1-2"/>
          <p:cNvSpPr txBox="1"/>
          <p:nvPr/>
        </p:nvSpPr>
        <p:spPr>
          <a:xfrm>
            <a:off x="1499616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75 m²</a:t>
            </a:r>
            <a:endParaRPr lang="en-US" sz="1100" dirty="0"/>
          </a:p>
        </p:txBody>
      </p:sp>
      <p:sp>
        <p:nvSpPr>
          <p:cNvPr id="12" name="Spec 1-3"/>
          <p:cNvSpPr txBox="1"/>
          <p:nvPr/>
        </p:nvSpPr>
        <p:spPr>
          <a:xfrm>
            <a:off x="2221992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tx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bg1"/>
                </a:solidFill>
              </a:rPr>
              <a:t>Floor 4/9</a:t>
            </a:r>
            <a:endParaRPr lang="en-US" sz="1100" dirty="0"/>
          </a:p>
        </p:txBody>
      </p:sp>
      <p:sp>
        <p:nvSpPr>
          <p:cNvPr id="13" name="Scenario card 2"/>
          <p:cNvSpPr/>
          <p:nvPr/>
        </p:nvSpPr>
        <p:spPr>
          <a:xfrm>
            <a:off x="3291840" y="1554480"/>
            <a:ext cx="2560320" cy="29260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14" name="Scenario 2 badge"/>
          <p:cNvSpPr/>
          <p:nvPr/>
        </p:nvSpPr>
        <p:spPr>
          <a:xfrm>
            <a:off x="3520440" y="1783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Scenario 2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46170" y="1908810"/>
            <a:ext cx="251460" cy="251460"/>
          </a:xfrm>
          <a:prstGeom prst="rect">
            <a:avLst/>
          </a:prstGeom>
        </p:spPr>
      </p:pic>
      <p:sp>
        <p:nvSpPr>
          <p:cNvPr id="16" name="District 2"/>
          <p:cNvSpPr txBox="1"/>
          <p:nvPr/>
        </p:nvSpPr>
        <p:spPr>
          <a:xfrm>
            <a:off x="416052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1"/>
                </a:solidFill>
              </a:rPr>
              <a:t>YAKKASAROY</a:t>
            </a:r>
            <a:endParaRPr lang="en-US" sz="1300" dirty="0"/>
          </a:p>
        </p:txBody>
      </p:sp>
      <p:sp>
        <p:nvSpPr>
          <p:cNvPr id="17" name="Price label 2"/>
          <p:cNvSpPr txBox="1"/>
          <p:nvPr/>
        </p:nvSpPr>
        <p:spPr>
          <a:xfrm>
            <a:off x="3520440" y="2514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Predicted price</a:t>
            </a:r>
            <a:endParaRPr lang="en-US" sz="1200" dirty="0"/>
          </a:p>
        </p:txBody>
      </p:sp>
      <p:sp>
        <p:nvSpPr>
          <p:cNvPr id="18" name="Price 2"/>
          <p:cNvSpPr txBox="1"/>
          <p:nvPr/>
        </p:nvSpPr>
        <p:spPr>
          <a:xfrm>
            <a:off x="3520440" y="2743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$59,610</a:t>
            </a:r>
            <a:endParaRPr lang="en-US" sz="4000" dirty="0"/>
          </a:p>
        </p:txBody>
      </p:sp>
      <p:sp>
        <p:nvSpPr>
          <p:cNvPr id="19" name="Spec 2-1"/>
          <p:cNvSpPr txBox="1"/>
          <p:nvPr/>
        </p:nvSpPr>
        <p:spPr>
          <a:xfrm>
            <a:off x="3520440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2 rooms</a:t>
            </a:r>
            <a:endParaRPr lang="en-US" sz="1100" dirty="0"/>
          </a:p>
        </p:txBody>
      </p:sp>
      <p:sp>
        <p:nvSpPr>
          <p:cNvPr id="20" name="Spec 2-2"/>
          <p:cNvSpPr txBox="1"/>
          <p:nvPr/>
        </p:nvSpPr>
        <p:spPr>
          <a:xfrm>
            <a:off x="4242816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65 m²</a:t>
            </a:r>
            <a:endParaRPr lang="en-US" sz="1100" dirty="0"/>
          </a:p>
        </p:txBody>
      </p:sp>
      <p:sp>
        <p:nvSpPr>
          <p:cNvPr id="21" name="Spec 2-3"/>
          <p:cNvSpPr txBox="1"/>
          <p:nvPr/>
        </p:nvSpPr>
        <p:spPr>
          <a:xfrm>
            <a:off x="4965192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Floor 3/5</a:t>
            </a:r>
            <a:endParaRPr lang="en-US" sz="1100" dirty="0"/>
          </a:p>
        </p:txBody>
      </p:sp>
      <p:sp>
        <p:nvSpPr>
          <p:cNvPr id="22" name="Scenario card 3"/>
          <p:cNvSpPr/>
          <p:nvPr/>
        </p:nvSpPr>
        <p:spPr>
          <a:xfrm>
            <a:off x="6035040" y="1554480"/>
            <a:ext cx="2560320" cy="2926080"/>
          </a:xfrm>
          <a:prstGeom prst="roundRect">
            <a:avLst>
              <a:gd name="adj" fmla="val 5000"/>
            </a:avLst>
          </a:prstGeom>
          <a:solidFill>
            <a:schemeClr val="bg1"/>
          </a:solidFill>
          <a:ln/>
          <a:effectLst>
            <a:outerShdw blurRad="152400" dist="38100" dir="5400000" algn="bl" rotWithShape="0">
              <a:srgbClr val="0B1B3A">
                <a:alpha val="14000"/>
              </a:srgbClr>
            </a:outerShdw>
          </a:effectLst>
        </p:spPr>
      </p:sp>
      <p:sp>
        <p:nvSpPr>
          <p:cNvPr id="23" name="Scenario 3 badge"/>
          <p:cNvSpPr/>
          <p:nvPr/>
        </p:nvSpPr>
        <p:spPr>
          <a:xfrm>
            <a:off x="6263640" y="178308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Scenario 3 icon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9370" y="1908810"/>
            <a:ext cx="251460" cy="251460"/>
          </a:xfrm>
          <a:prstGeom prst="rect">
            <a:avLst/>
          </a:prstGeom>
        </p:spPr>
      </p:pic>
      <p:sp>
        <p:nvSpPr>
          <p:cNvPr id="25" name="District 3"/>
          <p:cNvSpPr txBox="1"/>
          <p:nvPr/>
        </p:nvSpPr>
        <p:spPr>
          <a:xfrm>
            <a:off x="6903720" y="1783080"/>
            <a:ext cx="1554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chemeClr val="accent1"/>
                </a:solidFill>
              </a:rPr>
              <a:t>CHILONZOR</a:t>
            </a:r>
            <a:endParaRPr lang="en-US" sz="1300" dirty="0"/>
          </a:p>
        </p:txBody>
      </p:sp>
      <p:sp>
        <p:nvSpPr>
          <p:cNvPr id="26" name="Price label 3"/>
          <p:cNvSpPr txBox="1"/>
          <p:nvPr/>
        </p:nvSpPr>
        <p:spPr>
          <a:xfrm>
            <a:off x="6263640" y="2514600"/>
            <a:ext cx="2103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4"/>
                </a:solidFill>
              </a:rPr>
              <a:t>Predicted price</a:t>
            </a:r>
            <a:endParaRPr lang="en-US" sz="1200" dirty="0"/>
          </a:p>
        </p:txBody>
      </p:sp>
      <p:sp>
        <p:nvSpPr>
          <p:cNvPr id="27" name="Price 3"/>
          <p:cNvSpPr txBox="1"/>
          <p:nvPr/>
        </p:nvSpPr>
        <p:spPr>
          <a:xfrm>
            <a:off x="6263640" y="2743200"/>
            <a:ext cx="2194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$40,540</a:t>
            </a:r>
            <a:endParaRPr lang="en-US" sz="4000" dirty="0"/>
          </a:p>
        </p:txBody>
      </p:sp>
      <p:sp>
        <p:nvSpPr>
          <p:cNvPr id="28" name="Spec 3-1"/>
          <p:cNvSpPr txBox="1"/>
          <p:nvPr/>
        </p:nvSpPr>
        <p:spPr>
          <a:xfrm>
            <a:off x="6263640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2 rooms</a:t>
            </a:r>
            <a:endParaRPr lang="en-US" sz="1100" dirty="0"/>
          </a:p>
        </p:txBody>
      </p:sp>
      <p:sp>
        <p:nvSpPr>
          <p:cNvPr id="29" name="Spec 3-2"/>
          <p:cNvSpPr txBox="1"/>
          <p:nvPr/>
        </p:nvSpPr>
        <p:spPr>
          <a:xfrm>
            <a:off x="6986016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55 m²</a:t>
            </a:r>
            <a:endParaRPr lang="en-US" sz="1100" dirty="0"/>
          </a:p>
        </p:txBody>
      </p:sp>
      <p:sp>
        <p:nvSpPr>
          <p:cNvPr id="30" name="Spec 3-3"/>
          <p:cNvSpPr txBox="1"/>
          <p:nvPr/>
        </p:nvSpPr>
        <p:spPr>
          <a:xfrm>
            <a:off x="7708392" y="3749040"/>
            <a:ext cx="676656" cy="365760"/>
          </a:xfrm>
          <a:prstGeom prst="roundRect">
            <a:avLst>
              <a:gd name="adj" fmla="val 25000"/>
            </a:avLst>
          </a:prstGeom>
          <a:solidFill>
            <a:schemeClr val="bg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chemeClr val="tx1"/>
                </a:solidFill>
              </a:rPr>
              <a:t>Floor 2/4</a:t>
            </a:r>
            <a:endParaRPr lang="en-US" sz="1100" dirty="0"/>
          </a:p>
        </p:txBody>
      </p:sp>
      <p:pic>
        <p:nvPicPr>
          <p:cNvPr id="31" name="Nav Previous slide" descr="preencoded.png">
            <a:hlinkClick r:id="rId4" action="ppaction://hlinksldjump" tooltip="Previous 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32" name="Nav Project roadmap" descr="preencoded.png">
            <a:hlinkClick r:id="rId6" action="ppaction://hlinksldjump" tooltip="Project roadma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pic>
        <p:nvPicPr>
          <p:cNvPr id="33" name="Nav Next slide" descr="preencoded.png">
            <a:hlinkClick r:id="rId8" action="ppaction://hlinksldjump" tooltip="Next slide"/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72400" y="4709160"/>
            <a:ext cx="274320" cy="274320"/>
          </a:xfrm>
          <a:prstGeom prst="rect">
            <a:avLst/>
          </a:prstGeom>
        </p:spPr>
      </p:pic>
      <p:sp>
        <p:nvSpPr>
          <p:cNvPr id="34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138160" y="4754880"/>
            <a:ext cx="457200" cy="22860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5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5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5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9" presetID="10" presetClass="entr" presetSubtype="0" fill="hold" nodeType="withEffect">
                                  <p:stCondLst>
                                    <p:cond delay="22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1" dur="5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5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7" dur="5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0" dur="5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1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3" dur="5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4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6" dur="5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7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9" dur="5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5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3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5" dur="5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6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5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1005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chemeClr val="accent6"/>
                </a:solidFill>
              </a:rPr>
              <a:t>TEAM  •  GROUP E40B</a:t>
            </a:r>
            <a:endParaRPr 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4" hasCustomPrompt="1"/>
          </p:nvPr>
        </p:nvSpPr>
        <p:spPr>
          <a:xfrm>
            <a:off x="548640" y="1325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5000" b="1" dirty="0">
                <a:solidFill>
                  <a:schemeClr val="bg1"/>
                </a:solidFill>
              </a:rPr>
              <a:t>Thank You &amp; Q&amp;A</a:t>
            </a:r>
            <a:endParaRPr lang="en-US" sz="5000" dirty="0"/>
          </a:p>
        </p:txBody>
      </p:sp>
      <p:sp>
        <p:nvSpPr>
          <p:cNvPr id="4" name="Text 1"/>
          <p:cNvSpPr>
            <a:spLocks noGrp="1"/>
          </p:cNvSpPr>
          <p:nvPr>
            <p:ph type="body" idx="105" hasCustomPrompt="1"/>
          </p:nvPr>
        </p:nvSpPr>
        <p:spPr>
          <a:xfrm>
            <a:off x="548640" y="2423160"/>
            <a:ext cx="5852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600" dirty="0">
                <a:solidFill>
                  <a:schemeClr val="accent5"/>
                </a:solidFill>
              </a:rPr>
              <a:t>Live demo of our Jupyter Notebook and Interactive Price Predictor available now.</a:t>
            </a:r>
            <a:endParaRPr lang="en-US" sz="1600" dirty="0"/>
          </a:p>
        </p:txBody>
      </p:sp>
      <p:sp>
        <p:nvSpPr>
          <p:cNvPr id="5" name="Predictor link button">
            <a:hlinkClick r:id="rId3" tooltip="Open predictor"/>
          </p:cNvPr>
          <p:cNvSpPr txBox="1"/>
          <p:nvPr/>
        </p:nvSpPr>
        <p:spPr>
          <a:xfrm>
            <a:off x="548640" y="3099816"/>
            <a:ext cx="393192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chemeClr val="tx1"/>
                </a:solidFill>
                <a:hlinkClick r:id="rId3" tooltip="Open predic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the Live Price Predictor  →</a:t>
            </a:r>
            <a:endParaRPr lang="en-US" sz="1500" dirty="0"/>
          </a:p>
        </p:txBody>
      </p:sp>
      <p:sp>
        <p:nvSpPr>
          <p:cNvPr id="7" name="Team names"/>
          <p:cNvSpPr txBox="1"/>
          <p:nvPr/>
        </p:nvSpPr>
        <p:spPr>
          <a:xfrm>
            <a:off x="548640" y="452628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</a:rPr>
              <a:t>Oydinov Bexruz  •  Murtazoyev Xondamir  •  Sayfulloyev Muhammad  •  Abdumurodov Mashrab</a:t>
            </a:r>
            <a:endParaRPr lang="en-US" sz="1200" dirty="0"/>
          </a:p>
        </p:txBody>
      </p:sp>
      <p:pic>
        <p:nvPicPr>
          <p:cNvPr id="8" name="Nav Previous slide" descr="preencoded.png">
            <a:hlinkClick r:id="rId4" action="ppaction://hlinksldjump" tooltip="Previous slide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0880" y="4709160"/>
            <a:ext cx="274320" cy="274320"/>
          </a:xfrm>
          <a:prstGeom prst="rect">
            <a:avLst/>
          </a:prstGeom>
        </p:spPr>
      </p:pic>
      <p:pic>
        <p:nvPicPr>
          <p:cNvPr id="9" name="Nav Project roadmap" descr="preencoded.png">
            <a:hlinkClick r:id="rId6" action="ppaction://hlinksldjump" tooltip="Project roadmap"/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06640" y="4709160"/>
            <a:ext cx="274320" cy="274320"/>
          </a:xfrm>
          <a:prstGeom prst="rect">
            <a:avLst/>
          </a:prstGeom>
        </p:spPr>
      </p:pic>
      <p:sp>
        <p:nvSpPr>
          <p:cNvPr id="10" name="Predictor link button">
            <a:hlinkClick r:id="rId3" tooltip="Open predictor"/>
            <a:extLst>
              <a:ext uri="{FF2B5EF4-FFF2-40B4-BE49-F238E27FC236}">
                <a16:creationId xmlns:a16="http://schemas.microsoft.com/office/drawing/2014/main" id="{E12F94FB-B378-2289-78F0-12BE5E2AC050}"/>
              </a:ext>
            </a:extLst>
          </p:cNvPr>
          <p:cNvSpPr txBox="1"/>
          <p:nvPr/>
        </p:nvSpPr>
        <p:spPr>
          <a:xfrm>
            <a:off x="548640" y="3831336"/>
            <a:ext cx="3931920" cy="54864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u="sng" dirty="0">
                <a:solidFill>
                  <a:schemeClr val="tx1"/>
                </a:solidFill>
                <a:hlinkClick r:id="rId8" tooltip="Open predic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Open </a:t>
            </a:r>
            <a:r>
              <a:rPr lang="en-US" sz="1500" b="1" u="sng" dirty="0">
                <a:hlinkClick r:id="rId8" tooltip="Open predic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 GitHub Repo</a:t>
            </a:r>
            <a:r>
              <a:rPr lang="en-US" sz="1500" b="1" u="sng" dirty="0">
                <a:solidFill>
                  <a:schemeClr val="tx1"/>
                </a:solidFill>
                <a:hlinkClick r:id="rId8" tooltip="Open predictor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 →</a:t>
            </a:r>
            <a:endParaRPr lang="en-US" sz="1500" dirty="0"/>
          </a:p>
        </p:txBody>
      </p:sp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44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6" presetClass="emph" presetSubtype="0" repeatCount="indefinite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Scale>
                                      <p:cBhvr>
                                        <p:cTn id="12" dur="700" autoRev="1" fill="hold"/>
                                        <p:tgtEl>
                                          <p:spTgt spid="5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800"/>
                            </p:stCondLst>
                            <p:childTnLst>
                              <p:par>
                                <p:cTn id="14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6" presetClass="emph" presetSubtype="0" repeatCount="indefinite" fill="hold" nodeType="withEffect">
                                  <p:stCondLst>
                                    <p:cond delay="1400"/>
                                  </p:stCondLst>
                                  <p:childTnLst>
                                    <p:animScale>
                                      <p:cBhvr>
                                        <p:cTn id="18" dur="700" autoRev="1" fill="hold"/>
                                        <p:tgtEl>
                                          <p:spTgt spid="10"/>
                                        </p:tgtEl>
                                      </p:cBhvr>
                                      <p:by x="108000" y="108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Tashkent Skyline">
  <a:themeElements>
    <a:clrScheme name="Tashkent Skyline">
      <a:dk1>
        <a:srgbClr val="0B1B3A"/>
      </a:dk1>
      <a:lt1>
        <a:srgbClr val="FFFFFF"/>
      </a:lt1>
      <a:dk2>
        <a:srgbClr val="14305E"/>
      </a:dk2>
      <a:lt2>
        <a:srgbClr val="F1F5F9"/>
      </a:lt2>
      <a:accent1>
        <a:srgbClr val="0B8793"/>
      </a:accent1>
      <a:accent2>
        <a:srgbClr val="F5B700"/>
      </a:accent2>
      <a:accent3>
        <a:srgbClr val="E4572E"/>
      </a:accent3>
      <a:accent4>
        <a:srgbClr val="5B6B85"/>
      </a:accent4>
      <a:accent5>
        <a:srgbClr val="C9D6E6"/>
      </a:accent5>
      <a:accent6>
        <a:srgbClr val="38D6E3"/>
      </a:accent6>
      <a:hlink>
        <a:srgbClr val="0B1B3A"/>
      </a:hlink>
      <a:folHlink>
        <a:srgbClr val="0B1B3A"/>
      </a:folHlink>
    </a:clrScheme>
    <a:fontScheme name="Tashkent Skylin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</TotalTime>
  <Words>683</Words>
  <Application>Microsoft Office PowerPoint</Application>
  <PresentationFormat>On-screen Show (16:9)</PresentationFormat>
  <Paragraphs>200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9" baseType="lpstr">
      <vt:lpstr>Aptos</vt:lpstr>
      <vt:lpstr>Arial</vt:lpstr>
      <vt:lpstr>Calibri</vt:lpstr>
      <vt:lpstr>Cambria</vt:lpstr>
      <vt:lpstr>Courier New</vt:lpstr>
      <vt:lpstr>Tashkent Skyline</vt:lpstr>
      <vt:lpstr>Tashkent Apartment Price Prediction</vt:lpstr>
      <vt:lpstr>Project Roadmap</vt:lpstr>
      <vt:lpstr>Team Roles &amp; Presentation Flow</vt:lpstr>
      <vt:lpstr>Market Problem &amp; Research Objectives</vt:lpstr>
      <vt:lpstr>Uybor.uz Tashkent Real Estate Dataset</vt:lpstr>
      <vt:lpstr>Four-Stage Data Cleaning Pipeline</vt:lpstr>
      <vt:lpstr>Engineered Features for Regression</vt:lpstr>
      <vt:lpstr>Average Price per m² by District</vt:lpstr>
      <vt:lpstr>Key Price Drivers &amp; Spatial Trends</vt:lpstr>
      <vt:lpstr>Multiple Linear Regression Learned Weights</vt:lpstr>
      <vt:lpstr>Model Evaluation on 20% Unseen Test Set</vt:lpstr>
      <vt:lpstr>Interactive Predictor Test Scenarios</vt:lpstr>
      <vt:lpstr>Thank You &amp; Q&amp;A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Tashkent Apartment Price Prediction</dc:title>
  <dc:subject>PptxGenJS Presentation</dc:subject>
  <dc:creator>PptxGenJS</dc:creator>
  <cp:lastModifiedBy>Oydinov Bexruz</cp:lastModifiedBy>
  <cp:revision>3</cp:revision>
  <dcterms:created xsi:type="dcterms:W3CDTF">2026-10-18T18:52:14Z</dcterms:created>
  <dcterms:modified xsi:type="dcterms:W3CDTF">2026-10-19T05:31:54Z</dcterms:modified>
</cp:coreProperties>
</file>