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C138F0-8717-D2E8-C6A5-EF7EDA500EA2}">
          <p14:sldIdLst>
            <p14:sldId id="256"/>
            <p14:sldId id="257"/>
            <p14:sldId id="258"/>
            <p14:sldId id="259"/>
          </p14:sldIdLst>
        </p14:section>
        <p14:section name="Data &amp; Features" id="{C7B62A47-952C-0149-C4AD-921B388AB6F0}">
          <p14:sldIdLst>
            <p14:sldId id="260"/>
            <p14:sldId id="261"/>
            <p14:sldId id="262"/>
          </p14:sldIdLst>
        </p14:section>
        <p14:section name="Analysis &amp; Model" id="{7221EF8C-C5A3-D162-16EB-62BE8AD0BFA2}">
          <p14:sldIdLst>
            <p14:sldId id="263"/>
            <p14:sldId id="264"/>
            <p14:sldId id="265"/>
          </p14:sldIdLst>
        </p14:section>
        <p14:section name="Results &amp; Demo" id="{D557A355-6393-6983-C330-406AF02F398C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per m² (USD)</c:v>
                </c:pt>
              </c:strCache>
            </c:strRef>
          </c:tx>
          <c:spPr>
            <a:solidFill>
              <a:srgbClr val="0B8793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38D6E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D6E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A3B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0B1B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Mirobod</c:v>
                </c:pt>
                <c:pt idx="1">
                  <c:v>Yakkasaroy</c:v>
                </c:pt>
                <c:pt idx="2">
                  <c:v>Mirzo Ulugbek</c:v>
                </c:pt>
                <c:pt idx="3">
                  <c:v>Yunusobod</c:v>
                </c:pt>
                <c:pt idx="4">
                  <c:v>Chilonzor</c:v>
                </c:pt>
                <c:pt idx="5">
                  <c:v>Uchtepa</c:v>
                </c:pt>
                <c:pt idx="6">
                  <c:v>Sergeli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965</c:v>
                </c:pt>
                <c:pt idx="1">
                  <c:v>915</c:v>
                </c:pt>
                <c:pt idx="2">
                  <c:v>842</c:v>
                </c:pt>
                <c:pt idx="3">
                  <c:v>795</c:v>
                </c:pt>
                <c:pt idx="4">
                  <c:v>745</c:v>
                </c:pt>
                <c:pt idx="5">
                  <c:v>695</c:v>
                </c:pt>
                <c:pt idx="6">
                  <c:v>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C-2F48-83EF-6577D3C326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B1B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6841C-1B62-944E-9B65-8721A85F712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EE572-6E0E-1E4E-9523-E5439D000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2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Tashkent Apartment Price Prediction  •  Group E40B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Tashkent Apartment Price Prediction  •  Group E40B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960120"/>
            <a:ext cx="4937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2468880"/>
            <a:ext cx="45720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132588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4" name="Text 1"/>
          <p:cNvSpPr>
            <a:spLocks noGrp="1"/>
          </p:cNvSpPr>
          <p:nvPr>
            <p:ph type="body" idx="105" hasCustomPrompt="1"/>
          </p:nvPr>
        </p:nvSpPr>
        <p:spPr>
          <a:xfrm>
            <a:off x="548640" y="2423160"/>
            <a:ext cx="5852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Relationship Id="rId5" Type="http://schemas.openxmlformats.org/officeDocument/2006/relationships/slide" Target="slide2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 /><Relationship Id="rId3" Type="http://schemas.openxmlformats.org/officeDocument/2006/relationships/image" Target="../media/image3.png" /><Relationship Id="rId7" Type="http://schemas.openxmlformats.org/officeDocument/2006/relationships/slide" Target="slide8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slide" Target="slide5.xml" /><Relationship Id="rId5" Type="http://schemas.openxmlformats.org/officeDocument/2006/relationships/image" Target="../media/image4.png" /><Relationship Id="rId4" Type="http://schemas.openxmlformats.org/officeDocument/2006/relationships/slide" Target="slide3.xml" /><Relationship Id="rId9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6.png" /><Relationship Id="rId7" Type="http://schemas.openxmlformats.org/officeDocument/2006/relationships/slide" Target="slide2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.png" /><Relationship Id="rId11" Type="http://schemas.openxmlformats.org/officeDocument/2006/relationships/image" Target="../media/image12.png" /><Relationship Id="rId5" Type="http://schemas.openxmlformats.org/officeDocument/2006/relationships/image" Target="../media/image8.png" /><Relationship Id="rId10" Type="http://schemas.openxmlformats.org/officeDocument/2006/relationships/slide" Target="slide4.xml" /><Relationship Id="rId4" Type="http://schemas.openxmlformats.org/officeDocument/2006/relationships/image" Target="../media/image7.png" /><Relationship Id="rId9" Type="http://schemas.openxmlformats.org/officeDocument/2006/relationships/image" Target="../media/image11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.xml" /><Relationship Id="rId13" Type="http://schemas.openxmlformats.org/officeDocument/2006/relationships/image" Target="../media/image12.png" /><Relationship Id="rId3" Type="http://schemas.openxmlformats.org/officeDocument/2006/relationships/image" Target="../media/image13.png" /><Relationship Id="rId7" Type="http://schemas.openxmlformats.org/officeDocument/2006/relationships/image" Target="../media/image17.png" /><Relationship Id="rId12" Type="http://schemas.openxmlformats.org/officeDocument/2006/relationships/slide" Target="slide5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6.png" /><Relationship Id="rId11" Type="http://schemas.openxmlformats.org/officeDocument/2006/relationships/image" Target="../media/image11.png" /><Relationship Id="rId5" Type="http://schemas.openxmlformats.org/officeDocument/2006/relationships/image" Target="../media/image15.png" /><Relationship Id="rId10" Type="http://schemas.openxmlformats.org/officeDocument/2006/relationships/slide" Target="slide2.xml" /><Relationship Id="rId4" Type="http://schemas.openxmlformats.org/officeDocument/2006/relationships/image" Target="../media/image14.png" /><Relationship Id="rId9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slide" Target="slide4.xml" /><Relationship Id="rId7" Type="http://schemas.openxmlformats.org/officeDocument/2006/relationships/slide" Target="slide6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9.png" /><Relationship Id="rId5" Type="http://schemas.openxmlformats.org/officeDocument/2006/relationships/slide" Target="slide2.xml" /><Relationship Id="rId4" Type="http://schemas.openxmlformats.org/officeDocument/2006/relationships/image" Target="../media/image18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20.png" /><Relationship Id="rId7" Type="http://schemas.openxmlformats.org/officeDocument/2006/relationships/slide" Target="slide5.xml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3.png" /><Relationship Id="rId11" Type="http://schemas.openxmlformats.org/officeDocument/2006/relationships/slide" Target="slide7.xml" /><Relationship Id="rId5" Type="http://schemas.openxmlformats.org/officeDocument/2006/relationships/image" Target="../media/image22.png" /><Relationship Id="rId10" Type="http://schemas.openxmlformats.org/officeDocument/2006/relationships/image" Target="../media/image11.png" /><Relationship Id="rId4" Type="http://schemas.openxmlformats.org/officeDocument/2006/relationships/image" Target="../media/image21.png" /><Relationship Id="rId9" Type="http://schemas.openxmlformats.org/officeDocument/2006/relationships/slide" Target="slide2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15.png" /><Relationship Id="rId7" Type="http://schemas.openxmlformats.org/officeDocument/2006/relationships/slide" Target="slide6.xml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11" Type="http://schemas.openxmlformats.org/officeDocument/2006/relationships/slide" Target="slide8.xml" /><Relationship Id="rId5" Type="http://schemas.openxmlformats.org/officeDocument/2006/relationships/image" Target="../media/image25.png" /><Relationship Id="rId10" Type="http://schemas.openxmlformats.org/officeDocument/2006/relationships/image" Target="../media/image11.png" /><Relationship Id="rId4" Type="http://schemas.openxmlformats.org/officeDocument/2006/relationships/image" Target="../media/image24.png" /><Relationship Id="rId9" Type="http://schemas.openxmlformats.org/officeDocument/2006/relationships/slide" Target="slide2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9.xml" /><Relationship Id="rId3" Type="http://schemas.openxmlformats.org/officeDocument/2006/relationships/chart" Target="../charts/chart1.xml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6" Type="http://schemas.openxmlformats.org/officeDocument/2006/relationships/slide" Target="slide2.xml" /><Relationship Id="rId5" Type="http://schemas.openxmlformats.org/officeDocument/2006/relationships/image" Target="../media/image10.png" /><Relationship Id="rId4" Type="http://schemas.openxmlformats.org/officeDocument/2006/relationships/slide" Target="slide7.xml" /><Relationship Id="rId9" Type="http://schemas.openxmlformats.org/officeDocument/2006/relationships/image" Target="../media/image12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27.png" /><Relationship Id="rId7" Type="http://schemas.openxmlformats.org/officeDocument/2006/relationships/slide" Target="slide8.xml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1.png" /><Relationship Id="rId11" Type="http://schemas.openxmlformats.org/officeDocument/2006/relationships/slide" Target="slide10.xml" /><Relationship Id="rId5" Type="http://schemas.openxmlformats.org/officeDocument/2006/relationships/image" Target="../media/image15.png" /><Relationship Id="rId10" Type="http://schemas.openxmlformats.org/officeDocument/2006/relationships/image" Target="../media/image11.png" /><Relationship Id="rId4" Type="http://schemas.openxmlformats.org/officeDocument/2006/relationships/image" Target="../media/image28.png" /><Relationship Id="rId9" Type="http://schemas.openxmlformats.org/officeDocument/2006/relationships/slide" Target="slide2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3" Type="http://schemas.openxmlformats.org/officeDocument/2006/relationships/slide" Target="slide9.xml" /><Relationship Id="rId7" Type="http://schemas.openxmlformats.org/officeDocument/2006/relationships/slide" Target="slide11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.png" /><Relationship Id="rId5" Type="http://schemas.openxmlformats.org/officeDocument/2006/relationships/slide" Target="slide2.xml" /><Relationship Id="rId4" Type="http://schemas.openxmlformats.org/officeDocument/2006/relationships/image" Target="../media/image10.pn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slide" Target="slide10.xml" /><Relationship Id="rId7" Type="http://schemas.openxmlformats.org/officeDocument/2006/relationships/slide" Target="slide12.xm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9.png" /><Relationship Id="rId5" Type="http://schemas.openxmlformats.org/officeDocument/2006/relationships/slide" Target="slide2.xml" /><Relationship Id="rId4" Type="http://schemas.openxmlformats.org/officeDocument/2006/relationships/image" Target="../media/image18.png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3.xml" /><Relationship Id="rId3" Type="http://schemas.openxmlformats.org/officeDocument/2006/relationships/image" Target="../media/image29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6" Type="http://schemas.openxmlformats.org/officeDocument/2006/relationships/slide" Target="slide2.xml" /><Relationship Id="rId5" Type="http://schemas.openxmlformats.org/officeDocument/2006/relationships/image" Target="../media/image10.png" /><Relationship Id="rId4" Type="http://schemas.openxmlformats.org/officeDocument/2006/relationships/slide" Target="slide11.xml" /><Relationship Id="rId9" Type="http://schemas.openxmlformats.org/officeDocument/2006/relationships/image" Target="../media/image12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real-estate-price-predictor/full-page-embed" TargetMode="External" /><Relationship Id="rId7" Type="http://schemas.openxmlformats.org/officeDocument/2006/relationships/image" Target="../media/image19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5.xml" /><Relationship Id="rId6" Type="http://schemas.openxmlformats.org/officeDocument/2006/relationships/slide" Target="slide2.xml" /><Relationship Id="rId5" Type="http://schemas.openxmlformats.org/officeDocument/2006/relationships/image" Target="../media/image18.png" /><Relationship Id="rId4" Type="http://schemas.openxmlformats.org/officeDocument/2006/relationships/slide" Target="slide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Photo tint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/>
        </p:spPr>
      </p:sp>
      <p:sp>
        <p:nvSpPr>
          <p:cNvPr id="4" name="Dollar badge"/>
          <p:cNvSpPr/>
          <p:nvPr/>
        </p:nvSpPr>
        <p:spPr>
          <a:xfrm>
            <a:off x="5212080" y="4114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Dollar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640080"/>
            <a:ext cx="457200" cy="457200"/>
          </a:xfrm>
          <a:prstGeom prst="rect">
            <a:avLst/>
          </a:prstGeom>
        </p:spPr>
      </p:pic>
      <p:sp>
        <p:nvSpPr>
          <p:cNvPr id="6" name="Kicker"/>
          <p:cNvSpPr txBox="1"/>
          <p:nvPr/>
        </p:nvSpPr>
        <p:spPr>
          <a:xfrm>
            <a:off x="548640" y="640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AI &amp; MACHINE LEARNING PROJECT  •  TEAM (GROUP E40B)</a:t>
            </a:r>
            <a:endParaRPr lang="en-US" sz="1000" dirty="0"/>
          </a:p>
        </p:txBody>
      </p:sp>
      <p:sp>
        <p:nvSpPr>
          <p:cNvPr id="7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960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Tashkent Apartment Price Prediction</a:t>
            </a:r>
            <a:endParaRPr lang="en-US" sz="3600" dirty="0"/>
          </a:p>
        </p:txBody>
      </p:sp>
      <p:sp>
        <p:nvSpPr>
          <p:cNvPr id="8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2468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Exploratory data analysis and Multiple Linear Regression modeling on Uybor.uz listings.</a:t>
            </a:r>
            <a:endParaRPr lang="en-US" sz="1600" dirty="0"/>
          </a:p>
        </p:txBody>
      </p:sp>
      <p:sp>
        <p:nvSpPr>
          <p:cNvPr id="9" name="Team member 1"/>
          <p:cNvSpPr txBox="1"/>
          <p:nvPr/>
        </p:nvSpPr>
        <p:spPr>
          <a:xfrm>
            <a:off x="54864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Oydinov Bexruz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202390243</a:t>
            </a:r>
            <a:endParaRPr lang="en-US" sz="1300" dirty="0"/>
          </a:p>
        </p:txBody>
      </p:sp>
      <p:sp>
        <p:nvSpPr>
          <p:cNvPr id="10" name="Team member 2"/>
          <p:cNvSpPr txBox="1"/>
          <p:nvPr/>
        </p:nvSpPr>
        <p:spPr>
          <a:xfrm>
            <a:off x="306324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Murtazoyev Xondamir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202390241</a:t>
            </a:r>
            <a:endParaRPr lang="en-US" sz="1300" dirty="0"/>
          </a:p>
        </p:txBody>
      </p:sp>
      <p:sp>
        <p:nvSpPr>
          <p:cNvPr id="11" name="Team member 3"/>
          <p:cNvSpPr txBox="1"/>
          <p:nvPr/>
        </p:nvSpPr>
        <p:spPr>
          <a:xfrm>
            <a:off x="548640" y="4398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Sayfulloyev Muhammad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202390201</a:t>
            </a:r>
            <a:endParaRPr lang="en-US" sz="1300" dirty="0"/>
          </a:p>
        </p:txBody>
      </p:sp>
      <p:sp>
        <p:nvSpPr>
          <p:cNvPr id="12" name="Team member 4"/>
          <p:cNvSpPr txBox="1"/>
          <p:nvPr/>
        </p:nvSpPr>
        <p:spPr>
          <a:xfrm>
            <a:off x="3063240" y="4398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Abdumurodov Mashrab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202390257</a:t>
            </a:r>
            <a:endParaRPr lang="en-US" sz="1300" dirty="0"/>
          </a:p>
        </p:txBody>
      </p:sp>
      <p:sp>
        <p:nvSpPr>
          <p:cNvPr id="13" name="Start button">
            <a:hlinkClick r:id="rId5" action="ppaction://hlinksldjump" tooltip="Open the project roadmap"/>
          </p:cNvPr>
          <p:cNvSpPr txBox="1"/>
          <p:nvPr/>
        </p:nvSpPr>
        <p:spPr>
          <a:xfrm>
            <a:off x="548640" y="310896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chemeClr val="tx1"/>
                </a:solidFill>
                <a:hlinkClick r:id="rId5" action="ppaction://hlinksldjump" tooltip="Open the project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 exploring  ›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CLICK A CARD TO JUMP TO A SECTION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Project Roadmap</a:t>
            </a:r>
            <a:endParaRPr lang="en-US" sz="2800" dirty="0"/>
          </a:p>
        </p:txBody>
      </p:sp>
      <p:sp>
        <p:nvSpPr>
          <p:cNvPr id="4" name="Hub card 1"/>
          <p:cNvSpPr/>
          <p:nvPr/>
        </p:nvSpPr>
        <p:spPr>
          <a:xfrm>
            <a:off x="548640" y="155448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sp>
        <p:nvSpPr>
          <p:cNvPr id="5" name="Hub number 1"/>
          <p:cNvSpPr txBox="1"/>
          <p:nvPr/>
        </p:nvSpPr>
        <p:spPr>
          <a:xfrm>
            <a:off x="777240" y="1737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Hub text 1"/>
          <p:cNvSpPr txBox="1"/>
          <p:nvPr/>
        </p:nvSpPr>
        <p:spPr>
          <a:xfrm>
            <a:off x="1874520" y="1737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Introduction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Team  •  Problem</a:t>
            </a:r>
            <a:endParaRPr lang="en-US" sz="1800" dirty="0"/>
          </a:p>
        </p:txBody>
      </p:sp>
      <p:sp>
        <p:nvSpPr>
          <p:cNvPr id="7" name="Hub arrow 1 badge"/>
          <p:cNvSpPr/>
          <p:nvPr/>
        </p:nvSpPr>
        <p:spPr>
          <a:xfrm>
            <a:off x="388620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Hub arrow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2125980"/>
            <a:ext cx="228600" cy="228600"/>
          </a:xfrm>
          <a:prstGeom prst="rect">
            <a:avLst/>
          </a:prstGeom>
        </p:spPr>
      </p:pic>
      <p:pic>
        <p:nvPicPr>
          <p:cNvPr id="9" name="Hub link 1" descr="preencoded.png">
            <a:hlinkClick r:id="rId4" action="ppaction://hlinksldjump" tooltip="Jump to Introductio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54480"/>
            <a:ext cx="3931920" cy="1371600"/>
          </a:xfrm>
          <a:prstGeom prst="rect">
            <a:avLst/>
          </a:prstGeom>
        </p:spPr>
      </p:pic>
      <p:sp>
        <p:nvSpPr>
          <p:cNvPr id="10" name="Hub card 2"/>
          <p:cNvSpPr/>
          <p:nvPr/>
        </p:nvSpPr>
        <p:spPr>
          <a:xfrm>
            <a:off x="4663440" y="155448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sp>
        <p:nvSpPr>
          <p:cNvPr id="11" name="Hub number 2"/>
          <p:cNvSpPr txBox="1"/>
          <p:nvPr/>
        </p:nvSpPr>
        <p:spPr>
          <a:xfrm>
            <a:off x="4892040" y="173736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Hub text 2"/>
          <p:cNvSpPr txBox="1"/>
          <p:nvPr/>
        </p:nvSpPr>
        <p:spPr>
          <a:xfrm>
            <a:off x="5989320" y="1737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&amp; Features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Data  •  Cleaning  •  Features</a:t>
            </a:r>
            <a:endParaRPr lang="en-US" sz="1800" dirty="0"/>
          </a:p>
        </p:txBody>
      </p:sp>
      <p:sp>
        <p:nvSpPr>
          <p:cNvPr id="13" name="Hub arrow 2 badge"/>
          <p:cNvSpPr/>
          <p:nvPr/>
        </p:nvSpPr>
        <p:spPr>
          <a:xfrm>
            <a:off x="800100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Hub arrow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125980"/>
            <a:ext cx="228600" cy="228600"/>
          </a:xfrm>
          <a:prstGeom prst="rect">
            <a:avLst/>
          </a:prstGeom>
        </p:spPr>
      </p:pic>
      <p:pic>
        <p:nvPicPr>
          <p:cNvPr id="15" name="Hub link 2" descr="preencoded.png">
            <a:hlinkClick r:id="rId6" action="ppaction://hlinksldjump" tooltip="Jump to Data &amp; Features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554480"/>
            <a:ext cx="3931920" cy="1371600"/>
          </a:xfrm>
          <a:prstGeom prst="rect">
            <a:avLst/>
          </a:prstGeom>
        </p:spPr>
      </p:pic>
      <p:sp>
        <p:nvSpPr>
          <p:cNvPr id="16" name="Hub card 3"/>
          <p:cNvSpPr/>
          <p:nvPr/>
        </p:nvSpPr>
        <p:spPr>
          <a:xfrm>
            <a:off x="548640" y="310896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sp>
        <p:nvSpPr>
          <p:cNvPr id="17" name="Hub number 3"/>
          <p:cNvSpPr txBox="1"/>
          <p:nvPr/>
        </p:nvSpPr>
        <p:spPr>
          <a:xfrm>
            <a:off x="777240" y="32918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Hub text 3"/>
          <p:cNvSpPr txBox="1"/>
          <p:nvPr/>
        </p:nvSpPr>
        <p:spPr>
          <a:xfrm>
            <a:off x="1874520" y="32918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Analysis &amp; Model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EDA  •  Drivers  •  Weights</a:t>
            </a:r>
            <a:endParaRPr lang="en-US" sz="1800" dirty="0"/>
          </a:p>
        </p:txBody>
      </p:sp>
      <p:sp>
        <p:nvSpPr>
          <p:cNvPr id="19" name="Hub arrow 3 badge"/>
          <p:cNvSpPr/>
          <p:nvPr/>
        </p:nvSpPr>
        <p:spPr>
          <a:xfrm>
            <a:off x="3886200" y="3566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Hub arrow 3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680460"/>
            <a:ext cx="228600" cy="228600"/>
          </a:xfrm>
          <a:prstGeom prst="rect">
            <a:avLst/>
          </a:prstGeom>
        </p:spPr>
      </p:pic>
      <p:pic>
        <p:nvPicPr>
          <p:cNvPr id="21" name="Hub link 3" descr="preencoded.png">
            <a:hlinkClick r:id="rId7" action="ppaction://hlinksldjump" tooltip="Jump to Analysis &amp; Model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08960"/>
            <a:ext cx="3931920" cy="1371600"/>
          </a:xfrm>
          <a:prstGeom prst="rect">
            <a:avLst/>
          </a:prstGeom>
        </p:spPr>
      </p:pic>
      <p:sp>
        <p:nvSpPr>
          <p:cNvPr id="22" name="Hub card 4"/>
          <p:cNvSpPr/>
          <p:nvPr/>
        </p:nvSpPr>
        <p:spPr>
          <a:xfrm>
            <a:off x="4663440" y="310896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tx2"/>
          </a:solidFill>
          <a:ln/>
        </p:spPr>
      </p:sp>
      <p:sp>
        <p:nvSpPr>
          <p:cNvPr id="23" name="Hub number 4"/>
          <p:cNvSpPr txBox="1"/>
          <p:nvPr/>
        </p:nvSpPr>
        <p:spPr>
          <a:xfrm>
            <a:off x="4892040" y="32918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24" name="Hub text 4"/>
          <p:cNvSpPr txBox="1"/>
          <p:nvPr/>
        </p:nvSpPr>
        <p:spPr>
          <a:xfrm>
            <a:off x="5989320" y="32918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Results &amp; Demo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Results  •  Demo  •  Q&amp;A</a:t>
            </a:r>
            <a:endParaRPr lang="en-US" sz="1800" dirty="0"/>
          </a:p>
        </p:txBody>
      </p:sp>
      <p:sp>
        <p:nvSpPr>
          <p:cNvPr id="25" name="Hub arrow 4 badge"/>
          <p:cNvSpPr/>
          <p:nvPr/>
        </p:nvSpPr>
        <p:spPr>
          <a:xfrm>
            <a:off x="8001000" y="3566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Hub arrow 4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680460"/>
            <a:ext cx="228600" cy="228600"/>
          </a:xfrm>
          <a:prstGeom prst="rect">
            <a:avLst/>
          </a:prstGeom>
        </p:spPr>
      </p:pic>
      <p:pic>
        <p:nvPicPr>
          <p:cNvPr id="27" name="Hub link 4" descr="preencoded.png">
            <a:hlinkClick r:id="rId8" action="ppaction://hlinksldjump" tooltip="Jump to Results &amp; Demo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08960"/>
            <a:ext cx="3931920" cy="1371600"/>
          </a:xfrm>
          <a:prstGeom prst="rect">
            <a:avLst/>
          </a:prstGeom>
        </p:spPr>
      </p:pic>
      <p:pic>
        <p:nvPicPr>
          <p:cNvPr id="28" name="Nav Next slide" descr="preencoded.png">
            <a:hlinkClick r:id="rId4" action="ppaction://hlinksldjump" tooltip="Next slid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TEAM STRUCTURE  •  SPEAKER 1: BEXRUZ OYDINOV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Team Roles &amp; Presentation Flow</a:t>
            </a:r>
            <a:endParaRPr lang="en-US" sz="2800" dirty="0"/>
          </a:p>
        </p:txBody>
      </p:sp>
      <p:sp>
        <p:nvSpPr>
          <p:cNvPr id="4" name="Member card 1"/>
          <p:cNvSpPr/>
          <p:nvPr/>
        </p:nvSpPr>
        <p:spPr>
          <a:xfrm>
            <a:off x="548640" y="1554480"/>
            <a:ext cx="1828800" cy="292608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5" name="Member 1 badge"/>
          <p:cNvSpPr/>
          <p:nvPr/>
        </p:nvSpPr>
        <p:spPr>
          <a:xfrm>
            <a:off x="731520" y="1755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ember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92808"/>
            <a:ext cx="274320" cy="274320"/>
          </a:xfrm>
          <a:prstGeom prst="rect">
            <a:avLst/>
          </a:prstGeom>
        </p:spPr>
      </p:pic>
      <p:sp>
        <p:nvSpPr>
          <p:cNvPr id="7" name="Order 1"/>
          <p:cNvSpPr txBox="1"/>
          <p:nvPr/>
        </p:nvSpPr>
        <p:spPr>
          <a:xfrm>
            <a:off x="1463040" y="1755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Name 1"/>
          <p:cNvSpPr txBox="1"/>
          <p:nvPr/>
        </p:nvSpPr>
        <p:spPr>
          <a:xfrm>
            <a:off x="73152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Bexruz Oydinov</a:t>
            </a:r>
            <a:endParaRPr lang="en-US" sz="1500" dirty="0"/>
          </a:p>
        </p:txBody>
      </p:sp>
      <p:sp>
        <p:nvSpPr>
          <p:cNvPr id="9" name="Role 1"/>
          <p:cNvSpPr txBox="1"/>
          <p:nvPr/>
        </p:nvSpPr>
        <p:spPr>
          <a:xfrm>
            <a:off x="73152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Team Leader</a:t>
            </a:r>
            <a:endParaRPr lang="en-US" sz="1300" dirty="0"/>
          </a:p>
        </p:txBody>
      </p:sp>
      <p:sp>
        <p:nvSpPr>
          <p:cNvPr id="10" name="Student ID 1"/>
          <p:cNvSpPr txBox="1"/>
          <p:nvPr/>
        </p:nvSpPr>
        <p:spPr>
          <a:xfrm>
            <a:off x="73152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ID 202390243</a:t>
            </a:r>
            <a:endParaRPr lang="en-US" sz="1200" dirty="0"/>
          </a:p>
        </p:txBody>
      </p:sp>
      <p:sp>
        <p:nvSpPr>
          <p:cNvPr id="11" name="Topic 1"/>
          <p:cNvSpPr txBox="1"/>
          <p:nvPr/>
        </p:nvSpPr>
        <p:spPr>
          <a:xfrm>
            <a:off x="731520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Problem &amp; MLR Model</a:t>
            </a:r>
            <a:endParaRPr lang="en-US" sz="1200" dirty="0"/>
          </a:p>
        </p:txBody>
      </p:sp>
      <p:sp>
        <p:nvSpPr>
          <p:cNvPr id="12" name="Flow arrow 1"/>
          <p:cNvSpPr/>
          <p:nvPr/>
        </p:nvSpPr>
        <p:spPr>
          <a:xfrm>
            <a:off x="2418588" y="1874520"/>
            <a:ext cx="164592" cy="31089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3" name="Member card 2"/>
          <p:cNvSpPr/>
          <p:nvPr/>
        </p:nvSpPr>
        <p:spPr>
          <a:xfrm>
            <a:off x="2621310" y="1554480"/>
            <a:ext cx="1828800" cy="292608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4" name="Member 2 badge"/>
          <p:cNvSpPr/>
          <p:nvPr/>
        </p:nvSpPr>
        <p:spPr>
          <a:xfrm>
            <a:off x="2804190" y="1755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ember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350" y="1892808"/>
            <a:ext cx="274320" cy="274320"/>
          </a:xfrm>
          <a:prstGeom prst="rect">
            <a:avLst/>
          </a:prstGeom>
        </p:spPr>
      </p:pic>
      <p:sp>
        <p:nvSpPr>
          <p:cNvPr id="16" name="Order 2"/>
          <p:cNvSpPr txBox="1"/>
          <p:nvPr/>
        </p:nvSpPr>
        <p:spPr>
          <a:xfrm>
            <a:off x="3535710" y="1755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Name 2"/>
          <p:cNvSpPr txBox="1"/>
          <p:nvPr/>
        </p:nvSpPr>
        <p:spPr>
          <a:xfrm>
            <a:off x="280419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Xondamir Murtazoyev</a:t>
            </a:r>
            <a:endParaRPr lang="en-US" sz="1500" dirty="0"/>
          </a:p>
        </p:txBody>
      </p:sp>
      <p:sp>
        <p:nvSpPr>
          <p:cNvPr id="18" name="Role 2"/>
          <p:cNvSpPr txBox="1"/>
          <p:nvPr/>
        </p:nvSpPr>
        <p:spPr>
          <a:xfrm>
            <a:off x="2804190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CPO</a:t>
            </a:r>
            <a:endParaRPr lang="en-US" sz="1300" dirty="0"/>
          </a:p>
        </p:txBody>
      </p:sp>
      <p:sp>
        <p:nvSpPr>
          <p:cNvPr id="19" name="Student ID 2"/>
          <p:cNvSpPr txBox="1"/>
          <p:nvPr/>
        </p:nvSpPr>
        <p:spPr>
          <a:xfrm>
            <a:off x="280419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ID 202390241</a:t>
            </a:r>
            <a:endParaRPr lang="en-US" sz="1200" dirty="0"/>
          </a:p>
        </p:txBody>
      </p:sp>
      <p:sp>
        <p:nvSpPr>
          <p:cNvPr id="20" name="Topic 2"/>
          <p:cNvSpPr txBox="1"/>
          <p:nvPr/>
        </p:nvSpPr>
        <p:spPr>
          <a:xfrm>
            <a:off x="2804190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Pipeline &amp; Features</a:t>
            </a:r>
            <a:endParaRPr lang="en-US" sz="1200" dirty="0"/>
          </a:p>
        </p:txBody>
      </p:sp>
      <p:sp>
        <p:nvSpPr>
          <p:cNvPr id="21" name="Flow arrow 2"/>
          <p:cNvSpPr/>
          <p:nvPr/>
        </p:nvSpPr>
        <p:spPr>
          <a:xfrm>
            <a:off x="4491258" y="1874520"/>
            <a:ext cx="164592" cy="31089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2" name="Member card 3"/>
          <p:cNvSpPr/>
          <p:nvPr/>
        </p:nvSpPr>
        <p:spPr>
          <a:xfrm>
            <a:off x="4693981" y="1554480"/>
            <a:ext cx="1828800" cy="292608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23" name="Member 3 badge"/>
          <p:cNvSpPr/>
          <p:nvPr/>
        </p:nvSpPr>
        <p:spPr>
          <a:xfrm>
            <a:off x="4876861" y="1755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Member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021" y="1892808"/>
            <a:ext cx="274320" cy="274320"/>
          </a:xfrm>
          <a:prstGeom prst="rect">
            <a:avLst/>
          </a:prstGeom>
        </p:spPr>
      </p:pic>
      <p:sp>
        <p:nvSpPr>
          <p:cNvPr id="25" name="Order 3"/>
          <p:cNvSpPr txBox="1"/>
          <p:nvPr/>
        </p:nvSpPr>
        <p:spPr>
          <a:xfrm>
            <a:off x="5608381" y="1755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Name 3"/>
          <p:cNvSpPr txBox="1"/>
          <p:nvPr/>
        </p:nvSpPr>
        <p:spPr>
          <a:xfrm>
            <a:off x="4876861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Muhammad Sayfulloyev</a:t>
            </a:r>
            <a:endParaRPr lang="en-US" sz="1500" dirty="0"/>
          </a:p>
        </p:txBody>
      </p:sp>
      <p:sp>
        <p:nvSpPr>
          <p:cNvPr id="27" name="Role 3"/>
          <p:cNvSpPr txBox="1"/>
          <p:nvPr/>
        </p:nvSpPr>
        <p:spPr>
          <a:xfrm>
            <a:off x="4876861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Researcher</a:t>
            </a:r>
            <a:endParaRPr lang="en-US" sz="1300" dirty="0"/>
          </a:p>
        </p:txBody>
      </p:sp>
      <p:sp>
        <p:nvSpPr>
          <p:cNvPr id="28" name="Student ID 3"/>
          <p:cNvSpPr txBox="1"/>
          <p:nvPr/>
        </p:nvSpPr>
        <p:spPr>
          <a:xfrm>
            <a:off x="4876861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ID 202390201</a:t>
            </a:r>
            <a:endParaRPr lang="en-US" sz="1200" dirty="0"/>
          </a:p>
        </p:txBody>
      </p:sp>
      <p:sp>
        <p:nvSpPr>
          <p:cNvPr id="29" name="Topic 3"/>
          <p:cNvSpPr txBox="1"/>
          <p:nvPr/>
        </p:nvSpPr>
        <p:spPr>
          <a:xfrm>
            <a:off x="4876861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EDA &amp; Market Insights</a:t>
            </a:r>
            <a:endParaRPr lang="en-US" sz="1200" dirty="0"/>
          </a:p>
        </p:txBody>
      </p:sp>
      <p:sp>
        <p:nvSpPr>
          <p:cNvPr id="30" name="Flow arrow 3"/>
          <p:cNvSpPr/>
          <p:nvPr/>
        </p:nvSpPr>
        <p:spPr>
          <a:xfrm>
            <a:off x="6563929" y="1874520"/>
            <a:ext cx="164592" cy="310896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1" name="Member card 4"/>
          <p:cNvSpPr/>
          <p:nvPr/>
        </p:nvSpPr>
        <p:spPr>
          <a:xfrm>
            <a:off x="6766651" y="1554480"/>
            <a:ext cx="1828800" cy="292608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32" name="Member 4 badge"/>
          <p:cNvSpPr/>
          <p:nvPr/>
        </p:nvSpPr>
        <p:spPr>
          <a:xfrm>
            <a:off x="6949531" y="1755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Member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91" y="1892808"/>
            <a:ext cx="274320" cy="274320"/>
          </a:xfrm>
          <a:prstGeom prst="rect">
            <a:avLst/>
          </a:prstGeom>
        </p:spPr>
      </p:pic>
      <p:sp>
        <p:nvSpPr>
          <p:cNvPr id="34" name="Order 4"/>
          <p:cNvSpPr txBox="1"/>
          <p:nvPr/>
        </p:nvSpPr>
        <p:spPr>
          <a:xfrm>
            <a:off x="7681051" y="1755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5" name="Name 4"/>
          <p:cNvSpPr txBox="1"/>
          <p:nvPr/>
        </p:nvSpPr>
        <p:spPr>
          <a:xfrm>
            <a:off x="6949531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Mashrab Abdumurodov</a:t>
            </a:r>
            <a:endParaRPr lang="en-US" sz="1500" dirty="0"/>
          </a:p>
        </p:txBody>
      </p:sp>
      <p:sp>
        <p:nvSpPr>
          <p:cNvPr id="36" name="Role 4"/>
          <p:cNvSpPr txBox="1"/>
          <p:nvPr/>
        </p:nvSpPr>
        <p:spPr>
          <a:xfrm>
            <a:off x="6949531" y="3063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Prompt Eng</a:t>
            </a:r>
            <a:endParaRPr lang="en-US" sz="1300" dirty="0"/>
          </a:p>
        </p:txBody>
      </p:sp>
      <p:sp>
        <p:nvSpPr>
          <p:cNvPr id="37" name="Student ID 4"/>
          <p:cNvSpPr txBox="1"/>
          <p:nvPr/>
        </p:nvSpPr>
        <p:spPr>
          <a:xfrm>
            <a:off x="6949531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ID 202390257</a:t>
            </a:r>
            <a:endParaRPr lang="en-US" sz="1200" dirty="0"/>
          </a:p>
        </p:txBody>
      </p:sp>
      <p:sp>
        <p:nvSpPr>
          <p:cNvPr id="38" name="Topic 4"/>
          <p:cNvSpPr txBox="1"/>
          <p:nvPr/>
        </p:nvSpPr>
        <p:spPr>
          <a:xfrm>
            <a:off x="6949531" y="3749040"/>
            <a:ext cx="146304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Evaluation &amp; Web App</a:t>
            </a:r>
            <a:endParaRPr lang="en-US" sz="1200" dirty="0"/>
          </a:p>
        </p:txBody>
      </p:sp>
      <p:pic>
        <p:nvPicPr>
          <p:cNvPr id="39" name="Nav Previous slide" descr="preencoded.png">
            <a:hlinkClick r:id="rId7" action="ppaction://hlinksldjump" tooltip="Previous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40" name="Nav Project roadmap" descr="preencoded.png">
            <a:hlinkClick r:id="rId7" action="ppaction://hlinksldjump" tooltip="Project roadma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41" name="Nav Next slide" descr="preencoded.png">
            <a:hlinkClick r:id="rId10" action="ppaction://hlinksldjump" tooltip="Next slide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PROJECT CONTEXT  •  SPEAKER 1: BEXRUZ OYDINOV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Market Problem &amp; Research Objectives</a:t>
            </a:r>
            <a:endParaRPr lang="en-US" sz="2800" dirty="0"/>
          </a:p>
        </p:txBody>
      </p:sp>
      <p:sp>
        <p:nvSpPr>
          <p:cNvPr id="4" name="Objective card 1"/>
          <p:cNvSpPr/>
          <p:nvPr/>
        </p:nvSpPr>
        <p:spPr>
          <a:xfrm>
            <a:off x="548640" y="1508760"/>
            <a:ext cx="4892040" cy="667512"/>
          </a:xfrm>
          <a:prstGeom prst="roundRect">
            <a:avLst>
              <a:gd name="adj" fmla="val 19178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5" name="Objective 1 badge"/>
          <p:cNvSpPr/>
          <p:nvPr/>
        </p:nvSpPr>
        <p:spPr>
          <a:xfrm>
            <a:off x="713232" y="16139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Objectiv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28216"/>
            <a:ext cx="228600" cy="228600"/>
          </a:xfrm>
          <a:prstGeom prst="rect">
            <a:avLst/>
          </a:prstGeom>
        </p:spPr>
      </p:pic>
      <p:sp>
        <p:nvSpPr>
          <p:cNvPr id="7" name="Objective text 1"/>
          <p:cNvSpPr txBox="1"/>
          <p:nvPr/>
        </p:nvSpPr>
        <p:spPr>
          <a:xfrm>
            <a:off x="1325880" y="15087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Subjective Pricing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Wide valuation gaps across Tashkent listings.</a:t>
            </a:r>
            <a:endParaRPr lang="en-US" sz="1500" dirty="0"/>
          </a:p>
        </p:txBody>
      </p:sp>
      <p:sp>
        <p:nvSpPr>
          <p:cNvPr id="8" name="Objective card 2"/>
          <p:cNvSpPr/>
          <p:nvPr/>
        </p:nvSpPr>
        <p:spPr>
          <a:xfrm>
            <a:off x="548640" y="2286000"/>
            <a:ext cx="4892040" cy="667512"/>
          </a:xfrm>
          <a:prstGeom prst="roundRect">
            <a:avLst>
              <a:gd name="adj" fmla="val 19178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9" name="Objective 2 badge"/>
          <p:cNvSpPr/>
          <p:nvPr/>
        </p:nvSpPr>
        <p:spPr>
          <a:xfrm>
            <a:off x="713232" y="23911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Objectiv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2505456"/>
            <a:ext cx="228600" cy="228600"/>
          </a:xfrm>
          <a:prstGeom prst="rect">
            <a:avLst/>
          </a:prstGeom>
        </p:spPr>
      </p:pic>
      <p:sp>
        <p:nvSpPr>
          <p:cNvPr id="11" name="Objective text 2"/>
          <p:cNvSpPr txBox="1"/>
          <p:nvPr/>
        </p:nvSpPr>
        <p:spPr>
          <a:xfrm>
            <a:off x="1325880" y="22860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Core Objective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Predict fair USD value via regression.</a:t>
            </a:r>
            <a:endParaRPr lang="en-US" sz="1500" dirty="0"/>
          </a:p>
        </p:txBody>
      </p:sp>
      <p:sp>
        <p:nvSpPr>
          <p:cNvPr id="12" name="Objective card 3"/>
          <p:cNvSpPr/>
          <p:nvPr/>
        </p:nvSpPr>
        <p:spPr>
          <a:xfrm>
            <a:off x="548640" y="3063240"/>
            <a:ext cx="4892040" cy="667512"/>
          </a:xfrm>
          <a:prstGeom prst="roundRect">
            <a:avLst>
              <a:gd name="adj" fmla="val 19178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3" name="Objective 3 badge"/>
          <p:cNvSpPr/>
          <p:nvPr/>
        </p:nvSpPr>
        <p:spPr>
          <a:xfrm>
            <a:off x="713232" y="31683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Objectiv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3282696"/>
            <a:ext cx="228600" cy="228600"/>
          </a:xfrm>
          <a:prstGeom prst="rect">
            <a:avLst/>
          </a:prstGeom>
        </p:spPr>
      </p:pic>
      <p:sp>
        <p:nvSpPr>
          <p:cNvPr id="15" name="Objective text 3"/>
          <p:cNvSpPr txBox="1"/>
          <p:nvPr/>
        </p:nvSpPr>
        <p:spPr>
          <a:xfrm>
            <a:off x="1325880" y="30632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Spatial Factor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Quantify price premiums across 12 districts.</a:t>
            </a:r>
            <a:endParaRPr lang="en-US" sz="1500" dirty="0"/>
          </a:p>
        </p:txBody>
      </p:sp>
      <p:sp>
        <p:nvSpPr>
          <p:cNvPr id="16" name="Objective card 4"/>
          <p:cNvSpPr/>
          <p:nvPr/>
        </p:nvSpPr>
        <p:spPr>
          <a:xfrm>
            <a:off x="548640" y="3840480"/>
            <a:ext cx="4892040" cy="667512"/>
          </a:xfrm>
          <a:prstGeom prst="roundRect">
            <a:avLst>
              <a:gd name="adj" fmla="val 19178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7" name="Objective 4 badge"/>
          <p:cNvSpPr/>
          <p:nvPr/>
        </p:nvSpPr>
        <p:spPr>
          <a:xfrm>
            <a:off x="713232" y="39456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Objectiv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4059936"/>
            <a:ext cx="228600" cy="228600"/>
          </a:xfrm>
          <a:prstGeom prst="rect">
            <a:avLst/>
          </a:prstGeom>
        </p:spPr>
      </p:pic>
      <p:sp>
        <p:nvSpPr>
          <p:cNvPr id="19" name="Objective text 4"/>
          <p:cNvSpPr txBox="1"/>
          <p:nvPr/>
        </p:nvSpPr>
        <p:spPr>
          <a:xfrm>
            <a:off x="1325880" y="38404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Interpretability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Measure exact dollar impact per feature.</a:t>
            </a:r>
            <a:endParaRPr lang="en-US" sz="1500" dirty="0"/>
          </a:p>
        </p:txBody>
      </p:sp>
      <p:pic>
        <p:nvPicPr>
          <p:cNvPr id="20" name="Tashkent aerial phot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1508760"/>
            <a:ext cx="2788920" cy="3063240"/>
          </a:xfrm>
          <a:prstGeom prst="rect">
            <a:avLst/>
          </a:prstGeom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pic>
      <p:pic>
        <p:nvPicPr>
          <p:cNvPr id="21" name="Nav Previous slide" descr="preencoded.png">
            <a:hlinkClick r:id="rId8" action="ppaction://hlinksldjump" tooltip="Previous slid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22" name="Nav Project roadmap" descr="preencoded.png">
            <a:hlinkClick r:id="rId10" action="ppaction://hlinksldjump" tooltip="Project roadma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23" name="Nav Next slide" descr="preencoded.png">
            <a:hlinkClick r:id="rId12" action="ppaction://hlinksldjump" tooltip="Next slide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DATA SOURCE  •  SPEAKER 2: XONDAMIR MURTAZOYEV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Uybor.uz Tashkent Real Estate Dataset</a:t>
            </a:r>
            <a:endParaRPr lang="en-US" sz="2800" dirty="0"/>
          </a:p>
        </p:txBody>
      </p:sp>
      <p:sp>
        <p:nvSpPr>
          <p:cNvPr id="4" name="Listings stat"/>
          <p:cNvSpPr txBox="1"/>
          <p:nvPr/>
        </p:nvSpPr>
        <p:spPr>
          <a:xfrm>
            <a:off x="548640" y="13716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7,421</a:t>
            </a:r>
            <a:endParaRPr lang="en-US" sz="10800" dirty="0"/>
          </a:p>
        </p:txBody>
      </p:sp>
      <p:sp>
        <p:nvSpPr>
          <p:cNvPr id="5" name="Stat label"/>
          <p:cNvSpPr txBox="1"/>
          <p:nvPr/>
        </p:nvSpPr>
        <p:spPr>
          <a:xfrm>
            <a:off x="54864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Scraped Apartment Listings Across 12 Tashkent Districts</a:t>
            </a:r>
            <a:endParaRPr lang="en-US" sz="2000" dirty="0"/>
          </a:p>
        </p:txBody>
      </p:sp>
      <p:sp>
        <p:nvSpPr>
          <p:cNvPr id="6" name="Attributes panel"/>
          <p:cNvSpPr/>
          <p:nvPr/>
        </p:nvSpPr>
        <p:spPr>
          <a:xfrm>
            <a:off x="5577840" y="1508760"/>
            <a:ext cx="3017520" cy="3017520"/>
          </a:xfrm>
          <a:prstGeom prst="roundRect">
            <a:avLst>
              <a:gd name="adj" fmla="val 4242"/>
            </a:avLst>
          </a:prstGeom>
          <a:solidFill>
            <a:schemeClr val="tx2"/>
          </a:solidFill>
          <a:ln/>
        </p:spPr>
      </p:sp>
      <p:sp>
        <p:nvSpPr>
          <p:cNvPr id="7" name="Attributes header"/>
          <p:cNvSpPr txBox="1"/>
          <p:nvPr/>
        </p:nvSpPr>
        <p:spPr>
          <a:xfrm>
            <a:off x="58521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9 RAW ATTRIBUTES</a:t>
            </a:r>
            <a:endParaRPr lang="en-US" sz="1200" dirty="0"/>
          </a:p>
        </p:txBody>
      </p:sp>
      <p:sp>
        <p:nvSpPr>
          <p:cNvPr id="8" name="Dot 1"/>
          <p:cNvSpPr/>
          <p:nvPr/>
        </p:nvSpPr>
        <p:spPr>
          <a:xfrm>
            <a:off x="5852160" y="2322576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Attribute 1"/>
          <p:cNvSpPr txBox="1"/>
          <p:nvPr/>
        </p:nvSpPr>
        <p:spPr>
          <a:xfrm>
            <a:off x="6172200" y="2240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Area (m²)</a:t>
            </a:r>
            <a:endParaRPr lang="en-US" sz="1500" dirty="0"/>
          </a:p>
        </p:txBody>
      </p:sp>
      <p:sp>
        <p:nvSpPr>
          <p:cNvPr id="10" name="Dot 2"/>
          <p:cNvSpPr/>
          <p:nvPr/>
        </p:nvSpPr>
        <p:spPr>
          <a:xfrm>
            <a:off x="5852160" y="2779776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ttribute 2"/>
          <p:cNvSpPr txBox="1"/>
          <p:nvPr/>
        </p:nvSpPr>
        <p:spPr>
          <a:xfrm>
            <a:off x="6172200" y="2697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Rooms</a:t>
            </a:r>
            <a:endParaRPr lang="en-US" sz="1500" dirty="0"/>
          </a:p>
        </p:txBody>
      </p:sp>
      <p:sp>
        <p:nvSpPr>
          <p:cNvPr id="12" name="Dot 3"/>
          <p:cNvSpPr/>
          <p:nvPr/>
        </p:nvSpPr>
        <p:spPr>
          <a:xfrm>
            <a:off x="5852160" y="3236976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ttribute 3"/>
          <p:cNvSpPr txBox="1"/>
          <p:nvPr/>
        </p:nvSpPr>
        <p:spPr>
          <a:xfrm>
            <a:off x="6172200" y="3154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Floor level</a:t>
            </a:r>
            <a:endParaRPr lang="en-US" sz="1500" dirty="0"/>
          </a:p>
        </p:txBody>
      </p:sp>
      <p:sp>
        <p:nvSpPr>
          <p:cNvPr id="14" name="Dot 4"/>
          <p:cNvSpPr/>
          <p:nvPr/>
        </p:nvSpPr>
        <p:spPr>
          <a:xfrm>
            <a:off x="5852160" y="3694176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Attribute 4"/>
          <p:cNvSpPr txBox="1"/>
          <p:nvPr/>
        </p:nvSpPr>
        <p:spPr>
          <a:xfrm>
            <a:off x="6172200" y="3611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Price (USD)</a:t>
            </a:r>
            <a:endParaRPr lang="en-US" sz="1500" dirty="0"/>
          </a:p>
        </p:txBody>
      </p:sp>
      <p:sp>
        <p:nvSpPr>
          <p:cNvPr id="16" name="Dot 5"/>
          <p:cNvSpPr/>
          <p:nvPr/>
        </p:nvSpPr>
        <p:spPr>
          <a:xfrm>
            <a:off x="5852160" y="4151376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Attribute 5"/>
          <p:cNvSpPr txBox="1"/>
          <p:nvPr/>
        </p:nvSpPr>
        <p:spPr>
          <a:xfrm>
            <a:off x="6172200" y="4069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GPS coordinates</a:t>
            </a:r>
            <a:endParaRPr lang="en-US" sz="1500" dirty="0"/>
          </a:p>
        </p:txBody>
      </p:sp>
      <p:pic>
        <p:nvPicPr>
          <p:cNvPr id="18" name="Nav Previous slide" descr="preencoded.png">
            <a:hlinkClick r:id="rId3" action="ppaction://hlinksldjump" tooltip="Previous 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19" name="Nav Project roadmap" descr="preencoded.png">
            <a:hlinkClick r:id="rId5" action="ppaction://hlinksldjump" tooltip="Project roadma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20" name="Nav Next slide" descr="preencoded.png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PREPROCESSING  •  SPEAKER 2: XONDAMIR MURTAZOYEV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Four-Stage Data Cleaning Pipeline</a:t>
            </a:r>
            <a:endParaRPr lang="en-US" sz="2800" dirty="0"/>
          </a:p>
        </p:txBody>
      </p:sp>
      <p:sp>
        <p:nvSpPr>
          <p:cNvPr id="4" name="Step card 1"/>
          <p:cNvSpPr/>
          <p:nvPr/>
        </p:nvSpPr>
        <p:spPr>
          <a:xfrm>
            <a:off x="548640" y="1554480"/>
            <a:ext cx="1783080" cy="2926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5" name="Step 1 badge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81378"/>
            <a:ext cx="251460" cy="251460"/>
          </a:xfrm>
          <a:prstGeom prst="rect">
            <a:avLst/>
          </a:prstGeom>
        </p:spPr>
      </p:pic>
      <p:sp>
        <p:nvSpPr>
          <p:cNvPr id="7" name="Step number 1"/>
          <p:cNvSpPr txBox="1"/>
          <p:nvPr/>
        </p:nvSpPr>
        <p:spPr>
          <a:xfrm>
            <a:off x="1463040" y="17373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tep title 1"/>
          <p:cNvSpPr txBox="1"/>
          <p:nvPr/>
        </p:nvSpPr>
        <p:spPr>
          <a:xfrm>
            <a:off x="731520" y="2468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Deduplication</a:t>
            </a:r>
            <a:endParaRPr lang="en-US" sz="1600" dirty="0"/>
          </a:p>
        </p:txBody>
      </p:sp>
      <p:sp>
        <p:nvSpPr>
          <p:cNvPr id="9" name="Step detail 1"/>
          <p:cNvSpPr txBox="1"/>
          <p:nvPr/>
        </p:nvSpPr>
        <p:spPr>
          <a:xfrm>
            <a:off x="73152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Dropped </a:t>
            </a:r>
            <a:r>
              <a:rPr lang="en-US" sz="1400" b="1" dirty="0">
                <a:solidFill>
                  <a:schemeClr val="accent1"/>
                </a:solidFill>
              </a:rPr>
              <a:t>696</a:t>
            </a:r>
            <a:r>
              <a:rPr lang="en-US" sz="1400" dirty="0">
                <a:solidFill>
                  <a:schemeClr val="accent4"/>
                </a:solidFill>
              </a:rPr>
              <a:t> duplicate rows.</a:t>
            </a:r>
            <a:endParaRPr lang="en-US" sz="1400" dirty="0"/>
          </a:p>
        </p:txBody>
      </p:sp>
      <p:sp>
        <p:nvSpPr>
          <p:cNvPr id="10" name="Pipeline arrow 1"/>
          <p:cNvSpPr/>
          <p:nvPr/>
        </p:nvSpPr>
        <p:spPr>
          <a:xfrm>
            <a:off x="2382012" y="1874520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Step card 2"/>
          <p:cNvSpPr/>
          <p:nvPr/>
        </p:nvSpPr>
        <p:spPr>
          <a:xfrm>
            <a:off x="2636490" y="1554480"/>
            <a:ext cx="1783080" cy="2926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2" name="Step 2 badge"/>
          <p:cNvSpPr/>
          <p:nvPr/>
        </p:nvSpPr>
        <p:spPr>
          <a:xfrm>
            <a:off x="2819370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100" y="1881378"/>
            <a:ext cx="251460" cy="251460"/>
          </a:xfrm>
          <a:prstGeom prst="rect">
            <a:avLst/>
          </a:prstGeom>
        </p:spPr>
      </p:pic>
      <p:sp>
        <p:nvSpPr>
          <p:cNvPr id="14" name="Step number 2"/>
          <p:cNvSpPr txBox="1"/>
          <p:nvPr/>
        </p:nvSpPr>
        <p:spPr>
          <a:xfrm>
            <a:off x="3550890" y="17373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Step title 2"/>
          <p:cNvSpPr txBox="1"/>
          <p:nvPr/>
        </p:nvSpPr>
        <p:spPr>
          <a:xfrm>
            <a:off x="2819370" y="2468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Floor Logic Check</a:t>
            </a:r>
            <a:endParaRPr lang="en-US" sz="1600" dirty="0"/>
          </a:p>
        </p:txBody>
      </p:sp>
      <p:sp>
        <p:nvSpPr>
          <p:cNvPr id="16" name="Step detail 2"/>
          <p:cNvSpPr txBox="1"/>
          <p:nvPr/>
        </p:nvSpPr>
        <p:spPr>
          <a:xfrm>
            <a:off x="2819370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Enforced level below max_levels.</a:t>
            </a:r>
            <a:endParaRPr lang="en-US" sz="1400" dirty="0"/>
          </a:p>
        </p:txBody>
      </p:sp>
      <p:sp>
        <p:nvSpPr>
          <p:cNvPr id="17" name="Pipeline arrow 2"/>
          <p:cNvSpPr/>
          <p:nvPr/>
        </p:nvSpPr>
        <p:spPr>
          <a:xfrm>
            <a:off x="4469862" y="1874520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Step card 3"/>
          <p:cNvSpPr/>
          <p:nvPr/>
        </p:nvSpPr>
        <p:spPr>
          <a:xfrm>
            <a:off x="4724339" y="1554480"/>
            <a:ext cx="1783080" cy="2926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9" name="Step 3 badge"/>
          <p:cNvSpPr/>
          <p:nvPr/>
        </p:nvSpPr>
        <p:spPr>
          <a:xfrm>
            <a:off x="4907219" y="1755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949" y="1881378"/>
            <a:ext cx="251460" cy="251460"/>
          </a:xfrm>
          <a:prstGeom prst="rect">
            <a:avLst/>
          </a:prstGeom>
        </p:spPr>
      </p:pic>
      <p:sp>
        <p:nvSpPr>
          <p:cNvPr id="21" name="Step number 3"/>
          <p:cNvSpPr txBox="1"/>
          <p:nvPr/>
        </p:nvSpPr>
        <p:spPr>
          <a:xfrm>
            <a:off x="5638739" y="17373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tep title 3"/>
          <p:cNvSpPr txBox="1"/>
          <p:nvPr/>
        </p:nvSpPr>
        <p:spPr>
          <a:xfrm>
            <a:off x="4907219" y="2468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Outlier Trimming</a:t>
            </a:r>
            <a:endParaRPr lang="en-US" sz="1600" dirty="0"/>
          </a:p>
        </p:txBody>
      </p:sp>
      <p:sp>
        <p:nvSpPr>
          <p:cNvPr id="23" name="Step detail 3"/>
          <p:cNvSpPr txBox="1"/>
          <p:nvPr/>
        </p:nvSpPr>
        <p:spPr>
          <a:xfrm>
            <a:off x="4907219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Filtered 1st to 99th percentiles.</a:t>
            </a:r>
            <a:endParaRPr lang="en-US" sz="1400" dirty="0"/>
          </a:p>
        </p:txBody>
      </p:sp>
      <p:sp>
        <p:nvSpPr>
          <p:cNvPr id="24" name="Pipeline arrow 3"/>
          <p:cNvSpPr/>
          <p:nvPr/>
        </p:nvSpPr>
        <p:spPr>
          <a:xfrm>
            <a:off x="6557711" y="1874520"/>
            <a:ext cx="20116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Step card 4"/>
          <p:cNvSpPr/>
          <p:nvPr/>
        </p:nvSpPr>
        <p:spPr>
          <a:xfrm>
            <a:off x="6812189" y="1554480"/>
            <a:ext cx="1783080" cy="2926080"/>
          </a:xfrm>
          <a:prstGeom prst="roundRect">
            <a:avLst>
              <a:gd name="adj" fmla="val 7179"/>
            </a:avLst>
          </a:prstGeom>
          <a:solidFill>
            <a:schemeClr val="tx1"/>
          </a:solidFill>
          <a:ln/>
        </p:spPr>
      </p:sp>
      <p:sp>
        <p:nvSpPr>
          <p:cNvPr id="26" name="Step 4 badge"/>
          <p:cNvSpPr/>
          <p:nvPr/>
        </p:nvSpPr>
        <p:spPr>
          <a:xfrm>
            <a:off x="6995069" y="1755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799" y="1881378"/>
            <a:ext cx="251460" cy="251460"/>
          </a:xfrm>
          <a:prstGeom prst="rect">
            <a:avLst/>
          </a:prstGeom>
        </p:spPr>
      </p:pic>
      <p:sp>
        <p:nvSpPr>
          <p:cNvPr id="28" name="Step number 4"/>
          <p:cNvSpPr txBox="1"/>
          <p:nvPr/>
        </p:nvSpPr>
        <p:spPr>
          <a:xfrm>
            <a:off x="7726589" y="17373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Step title 4"/>
          <p:cNvSpPr txBox="1"/>
          <p:nvPr/>
        </p:nvSpPr>
        <p:spPr>
          <a:xfrm>
            <a:off x="6995069" y="2468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Clean Dataset</a:t>
            </a:r>
            <a:endParaRPr lang="en-US" sz="1600" dirty="0"/>
          </a:p>
        </p:txBody>
      </p:sp>
      <p:sp>
        <p:nvSpPr>
          <p:cNvPr id="30" name="Step detail 4"/>
          <p:cNvSpPr txBox="1"/>
          <p:nvPr/>
        </p:nvSpPr>
        <p:spPr>
          <a:xfrm>
            <a:off x="6995069" y="31089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6,360</a:t>
            </a:r>
            <a:r>
              <a:rPr lang="en-US" sz="1400" dirty="0">
                <a:solidFill>
                  <a:schemeClr val="accent5"/>
                </a:solidFill>
              </a:rPr>
              <a:t> verified housing records.</a:t>
            </a:r>
            <a:endParaRPr lang="en-US" sz="1400" dirty="0"/>
          </a:p>
        </p:txBody>
      </p:sp>
      <p:pic>
        <p:nvPicPr>
          <p:cNvPr id="31" name="Nav Previous slide" descr="preencoded.png">
            <a:hlinkClick r:id="rId7" action="ppaction://hlinksldjump" tooltip="Previous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32" name="Nav Project roadmap" descr="preencoded.png">
            <a:hlinkClick r:id="rId9" action="ppaction://hlinksldjump" tooltip="Project roadma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33" name="Nav Next slide" descr="preencoded.png">
            <a:hlinkClick r:id="rId11" action="ppaction://hlinksldjump" tooltip="Next slide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DOMAIN FEATURES  •  SPEAKER 2: XONDAMIR MURTAZOYEV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Engineered Features for Regression</a:t>
            </a:r>
            <a:endParaRPr lang="en-US" sz="28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55448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5" name="Feature 1 badge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eatur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080260"/>
            <a:ext cx="320040" cy="320040"/>
          </a:xfrm>
          <a:prstGeom prst="rect">
            <a:avLst/>
          </a:prstGeom>
        </p:spPr>
      </p:pic>
      <p:sp>
        <p:nvSpPr>
          <p:cNvPr id="7" name="Feature text 1"/>
          <p:cNvSpPr txBox="1"/>
          <p:nvPr/>
        </p:nvSpPr>
        <p:spPr>
          <a:xfrm>
            <a:off x="1645920" y="16459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Center Proximity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dist_from_center_km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Haversine distance to Amir Temur Square.</a:t>
            </a:r>
            <a:endParaRPr lang="en-US" sz="1600" dirty="0"/>
          </a:p>
        </p:txBody>
      </p:sp>
      <p:sp>
        <p:nvSpPr>
          <p:cNvPr id="8" name="Feature card 2"/>
          <p:cNvSpPr/>
          <p:nvPr/>
        </p:nvSpPr>
        <p:spPr>
          <a:xfrm>
            <a:off x="4663440" y="155448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9" name="Feature 2 badge"/>
          <p:cNvSpPr/>
          <p:nvPr/>
        </p:nvSpPr>
        <p:spPr>
          <a:xfrm>
            <a:off x="4892040" y="1920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Featur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2080260"/>
            <a:ext cx="320040" cy="320040"/>
          </a:xfrm>
          <a:prstGeom prst="rect">
            <a:avLst/>
          </a:prstGeom>
        </p:spPr>
      </p:pic>
      <p:sp>
        <p:nvSpPr>
          <p:cNvPr id="11" name="Feature text 2"/>
          <p:cNvSpPr txBox="1"/>
          <p:nvPr/>
        </p:nvSpPr>
        <p:spPr>
          <a:xfrm>
            <a:off x="5760720" y="16459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Floor Position Indicators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Binary flags for top and first floors.</a:t>
            </a:r>
            <a:endParaRPr lang="en-US" sz="1600" dirty="0"/>
          </a:p>
        </p:txBody>
      </p:sp>
      <p:sp>
        <p:nvSpPr>
          <p:cNvPr id="12" name="Feature card 3"/>
          <p:cNvSpPr/>
          <p:nvPr/>
        </p:nvSpPr>
        <p:spPr>
          <a:xfrm>
            <a:off x="548640" y="310896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3" name="Feature 3 badge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Featur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634740"/>
            <a:ext cx="320040" cy="320040"/>
          </a:xfrm>
          <a:prstGeom prst="rect">
            <a:avLst/>
          </a:prstGeom>
        </p:spPr>
      </p:pic>
      <p:sp>
        <p:nvSpPr>
          <p:cNvPr id="15" name="Feature text 3"/>
          <p:cNvSpPr txBox="1"/>
          <p:nvPr/>
        </p:nvSpPr>
        <p:spPr>
          <a:xfrm>
            <a:off x="164592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Room Spaciousness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sqm_per_room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Total area divided by room count.</a:t>
            </a:r>
            <a:endParaRPr lang="en-US" sz="1600" dirty="0"/>
          </a:p>
        </p:txBody>
      </p:sp>
      <p:sp>
        <p:nvSpPr>
          <p:cNvPr id="16" name="Feature card 4"/>
          <p:cNvSpPr/>
          <p:nvPr/>
        </p:nvSpPr>
        <p:spPr>
          <a:xfrm>
            <a:off x="4663440" y="3108960"/>
            <a:ext cx="393192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7" name="Feature 4 badge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Featur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634740"/>
            <a:ext cx="320040" cy="320040"/>
          </a:xfrm>
          <a:prstGeom prst="rect">
            <a:avLst/>
          </a:prstGeom>
        </p:spPr>
      </p:pic>
      <p:sp>
        <p:nvSpPr>
          <p:cNvPr id="19" name="Feature text 4"/>
          <p:cNvSpPr txBox="1"/>
          <p:nvPr/>
        </p:nvSpPr>
        <p:spPr>
          <a:xfrm>
            <a:off x="576072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One-Hot District Encoding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11 binary columns avoiding multicollinearity.</a:t>
            </a:r>
            <a:endParaRPr lang="en-US" sz="1600" dirty="0"/>
          </a:p>
        </p:txBody>
      </p:sp>
      <p:pic>
        <p:nvPicPr>
          <p:cNvPr id="20" name="Nav Previous slide" descr="preencoded.png">
            <a:hlinkClick r:id="rId7" action="ppaction://hlinksldjump" tooltip="Previous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21" name="Nav Project roadmap" descr="preencoded.png">
            <a:hlinkClick r:id="rId9" action="ppaction://hlinksldjump" tooltip="Project roadma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22" name="Nav Next slide" descr="preencoded.png">
            <a:hlinkClick r:id="rId11" action="ppaction://hlinksldjump" tooltip="Next slide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EXPLORATORY DATA ANALYSIS  •  SPEAKER 3: MUHAMMAD SAYFULLOYEV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Average Price per m² by District</a:t>
            </a:r>
            <a:endParaRPr lang="en-US" sz="2800" dirty="0"/>
          </a:p>
        </p:txBody>
      </p:sp>
      <p:sp>
        <p:nvSpPr>
          <p:cNvPr id="4" name="Chart panel"/>
          <p:cNvSpPr/>
          <p:nvPr/>
        </p:nvSpPr>
        <p:spPr>
          <a:xfrm>
            <a:off x="548640" y="1508760"/>
            <a:ext cx="5669280" cy="3063240"/>
          </a:xfrm>
          <a:prstGeom prst="roundRect">
            <a:avLst>
              <a:gd name="adj" fmla="val 417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graphicFrame>
        <p:nvGraphicFramePr>
          <p:cNvPr id="5" name="District chart"/>
          <p:cNvGraphicFramePr/>
          <p:nvPr/>
        </p:nvGraphicFramePr>
        <p:xfrm>
          <a:off x="640080" y="1600200"/>
          <a:ext cx="54864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Premium callout"/>
          <p:cNvSpPr/>
          <p:nvPr/>
        </p:nvSpPr>
        <p:spPr>
          <a:xfrm>
            <a:off x="6446520" y="1508760"/>
            <a:ext cx="2148840" cy="3063240"/>
          </a:xfrm>
          <a:prstGeom prst="roundRect">
            <a:avLst>
              <a:gd name="adj" fmla="val 5957"/>
            </a:avLst>
          </a:prstGeom>
          <a:solidFill>
            <a:schemeClr val="tx1"/>
          </a:solidFill>
          <a:ln/>
        </p:spPr>
      </p:sp>
      <p:sp>
        <p:nvSpPr>
          <p:cNvPr id="7" name="Callout label"/>
          <p:cNvSpPr txBox="1"/>
          <p:nvPr/>
        </p:nvSpPr>
        <p:spPr>
          <a:xfrm>
            <a:off x="667512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PREMIUM GAP</a:t>
            </a:r>
            <a:endParaRPr lang="en-US" sz="1200" dirty="0"/>
          </a:p>
        </p:txBody>
      </p:sp>
      <p:sp>
        <p:nvSpPr>
          <p:cNvPr id="8" name="Callout stat"/>
          <p:cNvSpPr txBox="1"/>
          <p:nvPr/>
        </p:nvSpPr>
        <p:spPr>
          <a:xfrm>
            <a:off x="6675120" y="21031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+64%</a:t>
            </a:r>
            <a:endParaRPr lang="en-US" sz="4800" dirty="0"/>
          </a:p>
        </p:txBody>
      </p:sp>
      <p:sp>
        <p:nvSpPr>
          <p:cNvPr id="9" name="Callout text"/>
          <p:cNvSpPr txBox="1"/>
          <p:nvPr/>
        </p:nvSpPr>
        <p:spPr>
          <a:xfrm>
            <a:off x="6675120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Mirobod ($965) vs Sergeli ($590) per square meter</a:t>
            </a:r>
            <a:endParaRPr lang="en-US" sz="1400" dirty="0"/>
          </a:p>
        </p:txBody>
      </p:sp>
      <p:pic>
        <p:nvPicPr>
          <p:cNvPr id="10" name="Nav Previous slide" descr="preencoded.png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11" name="Nav Project roadmap" descr="preencoded.png">
            <a:hlinkClick r:id="rId6" action="ppaction://hlinksldjump" tooltip="Project roadma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12" name="Nav Next slide" descr="preencoded.png">
            <a:hlinkClick r:id="rId8" action="ppaction://hlinksldjump" tooltip="Next slid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KEY DRIVERS  •  SPEAKER 3: MUHAMMAD SAYFULLOYEV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Key Price Drivers &amp; Spatial Trends</a:t>
            </a:r>
            <a:endParaRPr lang="en-US" sz="2800" dirty="0"/>
          </a:p>
        </p:txBody>
      </p:sp>
      <p:sp>
        <p:nvSpPr>
          <p:cNvPr id="4" name="Driver card 1"/>
          <p:cNvSpPr/>
          <p:nvPr/>
        </p:nvSpPr>
        <p:spPr>
          <a:xfrm>
            <a:off x="548640" y="1508760"/>
            <a:ext cx="804672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5" name="Driver 1 badge"/>
          <p:cNvSpPr/>
          <p:nvPr/>
        </p:nvSpPr>
        <p:spPr>
          <a:xfrm>
            <a:off x="713232" y="16367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river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51076"/>
            <a:ext cx="228600" cy="228600"/>
          </a:xfrm>
          <a:prstGeom prst="rect">
            <a:avLst/>
          </a:prstGeom>
        </p:spPr>
      </p:pic>
      <p:sp>
        <p:nvSpPr>
          <p:cNvPr id="7" name="Driver text 1"/>
          <p:cNvSpPr txBox="1"/>
          <p:nvPr/>
        </p:nvSpPr>
        <p:spPr>
          <a:xfrm>
            <a:off x="1325880" y="15087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Living Area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Strongest linear driver of apartment price.</a:t>
            </a:r>
            <a:endParaRPr lang="en-US" sz="1500" dirty="0"/>
          </a:p>
        </p:txBody>
      </p:sp>
      <p:sp>
        <p:nvSpPr>
          <p:cNvPr id="8" name="Bar track 1"/>
          <p:cNvSpPr/>
          <p:nvPr/>
        </p:nvSpPr>
        <p:spPr>
          <a:xfrm>
            <a:off x="4663440" y="1764792"/>
            <a:ext cx="2377440" cy="201168"/>
          </a:xfrm>
          <a:prstGeom prst="roundRect">
            <a:avLst>
              <a:gd name="adj" fmla="val 50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9" name="Bar fill 1"/>
          <p:cNvSpPr/>
          <p:nvPr/>
        </p:nvSpPr>
        <p:spPr>
          <a:xfrm>
            <a:off x="4663440" y="1764792"/>
            <a:ext cx="1925726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Driver value 1"/>
          <p:cNvSpPr txBox="1"/>
          <p:nvPr/>
        </p:nvSpPr>
        <p:spPr>
          <a:xfrm>
            <a:off x="7178040" y="15087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0.81</a:t>
            </a:r>
            <a:endParaRPr lang="en-US" sz="2000" dirty="0"/>
          </a:p>
        </p:txBody>
      </p:sp>
      <p:sp>
        <p:nvSpPr>
          <p:cNvPr id="11" name="Driver card 2"/>
          <p:cNvSpPr/>
          <p:nvPr/>
        </p:nvSpPr>
        <p:spPr>
          <a:xfrm>
            <a:off x="548640" y="2295144"/>
            <a:ext cx="804672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2" name="Driver 2 badge"/>
          <p:cNvSpPr/>
          <p:nvPr/>
        </p:nvSpPr>
        <p:spPr>
          <a:xfrm>
            <a:off x="713232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Driver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2537460"/>
            <a:ext cx="228600" cy="228600"/>
          </a:xfrm>
          <a:prstGeom prst="rect">
            <a:avLst/>
          </a:prstGeom>
        </p:spPr>
      </p:pic>
      <p:sp>
        <p:nvSpPr>
          <p:cNvPr id="14" name="Driver text 2"/>
          <p:cNvSpPr txBox="1"/>
          <p:nvPr/>
        </p:nvSpPr>
        <p:spPr>
          <a:xfrm>
            <a:off x="1325880" y="229514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Room Count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High positive correlation with total size.</a:t>
            </a:r>
            <a:endParaRPr lang="en-US" sz="1500" dirty="0"/>
          </a:p>
        </p:txBody>
      </p:sp>
      <p:sp>
        <p:nvSpPr>
          <p:cNvPr id="15" name="Bar track 2"/>
          <p:cNvSpPr/>
          <p:nvPr/>
        </p:nvSpPr>
        <p:spPr>
          <a:xfrm>
            <a:off x="4663440" y="2551176"/>
            <a:ext cx="2377440" cy="201168"/>
          </a:xfrm>
          <a:prstGeom prst="roundRect">
            <a:avLst>
              <a:gd name="adj" fmla="val 50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6" name="Bar fill 2"/>
          <p:cNvSpPr/>
          <p:nvPr/>
        </p:nvSpPr>
        <p:spPr>
          <a:xfrm>
            <a:off x="4663440" y="2551176"/>
            <a:ext cx="1474013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Driver value 2"/>
          <p:cNvSpPr txBox="1"/>
          <p:nvPr/>
        </p:nvSpPr>
        <p:spPr>
          <a:xfrm>
            <a:off x="7178040" y="229514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0.62</a:t>
            </a:r>
            <a:endParaRPr lang="en-US" sz="2000" dirty="0"/>
          </a:p>
        </p:txBody>
      </p:sp>
      <p:sp>
        <p:nvSpPr>
          <p:cNvPr id="18" name="Driver card 3"/>
          <p:cNvSpPr/>
          <p:nvPr/>
        </p:nvSpPr>
        <p:spPr>
          <a:xfrm>
            <a:off x="548640" y="3081528"/>
            <a:ext cx="804672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9" name="Driver 3 badge"/>
          <p:cNvSpPr/>
          <p:nvPr/>
        </p:nvSpPr>
        <p:spPr>
          <a:xfrm>
            <a:off x="713232" y="320954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Driver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3323844"/>
            <a:ext cx="228600" cy="228600"/>
          </a:xfrm>
          <a:prstGeom prst="rect">
            <a:avLst/>
          </a:prstGeom>
        </p:spPr>
      </p:pic>
      <p:sp>
        <p:nvSpPr>
          <p:cNvPr id="21" name="Driver text 3"/>
          <p:cNvSpPr txBox="1"/>
          <p:nvPr/>
        </p:nvSpPr>
        <p:spPr>
          <a:xfrm>
            <a:off x="1325880" y="308152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Center Distance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Prices drop sharply outside central ring.</a:t>
            </a:r>
            <a:endParaRPr lang="en-US" sz="1500" dirty="0"/>
          </a:p>
        </p:txBody>
      </p:sp>
      <p:sp>
        <p:nvSpPr>
          <p:cNvPr id="22" name="Bar track 3"/>
          <p:cNvSpPr/>
          <p:nvPr/>
        </p:nvSpPr>
        <p:spPr>
          <a:xfrm>
            <a:off x="4663440" y="3337560"/>
            <a:ext cx="2377440" cy="201168"/>
          </a:xfrm>
          <a:prstGeom prst="roundRect">
            <a:avLst>
              <a:gd name="adj" fmla="val 50000"/>
            </a:avLst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23" name="Bar fill 3"/>
          <p:cNvSpPr/>
          <p:nvPr/>
        </p:nvSpPr>
        <p:spPr>
          <a:xfrm>
            <a:off x="4663440" y="3337560"/>
            <a:ext cx="808330" cy="20116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Driver value 3"/>
          <p:cNvSpPr txBox="1"/>
          <p:nvPr/>
        </p:nvSpPr>
        <p:spPr>
          <a:xfrm>
            <a:off x="7178040" y="308152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−0.34</a:t>
            </a:r>
            <a:endParaRPr lang="en-US" sz="2000" dirty="0"/>
          </a:p>
        </p:txBody>
      </p:sp>
      <p:sp>
        <p:nvSpPr>
          <p:cNvPr id="25" name="Driver card 4"/>
          <p:cNvSpPr/>
          <p:nvPr/>
        </p:nvSpPr>
        <p:spPr>
          <a:xfrm>
            <a:off x="548640" y="3867912"/>
            <a:ext cx="8046720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26" name="Driver 4 badge"/>
          <p:cNvSpPr/>
          <p:nvPr/>
        </p:nvSpPr>
        <p:spPr>
          <a:xfrm>
            <a:off x="713232" y="399592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Driver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4110228"/>
            <a:ext cx="228600" cy="228600"/>
          </a:xfrm>
          <a:prstGeom prst="rect">
            <a:avLst/>
          </a:prstGeom>
        </p:spPr>
      </p:pic>
      <p:sp>
        <p:nvSpPr>
          <p:cNvPr id="28" name="Driver text 4"/>
          <p:cNvSpPr txBox="1"/>
          <p:nvPr/>
        </p:nvSpPr>
        <p:spPr>
          <a:xfrm>
            <a:off x="1325880" y="386791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Top Floor Discount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Top floors trade lower in unrenovated buildings.</a:t>
            </a:r>
            <a:endParaRPr lang="en-US" sz="1500" dirty="0"/>
          </a:p>
        </p:txBody>
      </p:sp>
      <p:sp>
        <p:nvSpPr>
          <p:cNvPr id="29" name="Driver value 4"/>
          <p:cNvSpPr txBox="1"/>
          <p:nvPr/>
        </p:nvSpPr>
        <p:spPr>
          <a:xfrm>
            <a:off x="7178040" y="386791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2000" dirty="0"/>
          </a:p>
        </p:txBody>
      </p:sp>
      <p:pic>
        <p:nvPicPr>
          <p:cNvPr id="30" name="Nav Previous slide" descr="preencoded.png">
            <a:hlinkClick r:id="rId7" action="ppaction://hlinksldjump" tooltip="Previous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31" name="Nav Project roadmap" descr="preencoded.png">
            <a:hlinkClick r:id="rId9" action="ppaction://hlinksldjump" tooltip="Project roadma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32" name="Nav Next slide" descr="preencoded.png">
            <a:hlinkClick r:id="rId11" action="ppaction://hlinksldjump" tooltip="Next slide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MODEL COEFFICIENTS  •  SPEAKER 1: BEXRUZ OYDINOV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Multiple Linear Regression Learned Weights</a:t>
            </a:r>
            <a:endParaRPr lang="en-US" sz="2800" dirty="0"/>
          </a:p>
        </p:txBody>
      </p:sp>
      <p:graphicFrame>
        <p:nvGraphicFramePr>
          <p:cNvPr id="11" name="Coeffici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300837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Area (size)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8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+$868.50 / m²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dollar increase per square 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District: Mirobod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8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+$11,850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central location premium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District: Yakkasaroy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8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+$9,200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residential district premium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District: Mirzo Ulugbek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87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+$6,450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High-demand eastern central premium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Center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−$1,620 / km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drop per km from Amir Temur Square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Floor Indicator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−$2,450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floor discount vs middle levels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Nav Previous slide" descr="preencoded.png">
            <a:hlinkClick r:id="rId3" action="ppaction://hlinksldjump" tooltip="Previous 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6" name="Nav Project roadmap" descr="preencoded.png">
            <a:hlinkClick r:id="rId5" action="ppaction://hlinksldjump" tooltip="Project roadma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7" name="Nav Next slide" descr="preencoded.png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6"/>
                </a:solidFill>
              </a:rPr>
              <a:t>VALIDATION RESULTS  •  SPEAKER 4: MASHRAB ABDUMURODOV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Model Evaluation on 20% Unseen Test Set</a:t>
            </a:r>
            <a:endParaRPr lang="en-US" sz="2800" dirty="0"/>
          </a:p>
        </p:txBody>
      </p:sp>
      <p:sp>
        <p:nvSpPr>
          <p:cNvPr id="4" name="R2 hero card"/>
          <p:cNvSpPr/>
          <p:nvPr/>
        </p:nvSpPr>
        <p:spPr>
          <a:xfrm>
            <a:off x="548640" y="1508760"/>
            <a:ext cx="3200400" cy="3063240"/>
          </a:xfrm>
          <a:prstGeom prst="roundRect">
            <a:avLst>
              <a:gd name="adj" fmla="val 4179"/>
            </a:avLst>
          </a:prstGeom>
          <a:solidFill>
            <a:schemeClr val="accent1"/>
          </a:solidFill>
          <a:ln/>
        </p:spPr>
      </p:sp>
      <p:sp>
        <p:nvSpPr>
          <p:cNvPr id="5" name="R2 label"/>
          <p:cNvSpPr txBox="1"/>
          <p:nvPr/>
        </p:nvSpPr>
        <p:spPr>
          <a:xfrm>
            <a:off x="8229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Test R² Score</a:t>
            </a:r>
            <a:endParaRPr lang="en-US" sz="1600" dirty="0"/>
          </a:p>
        </p:txBody>
      </p:sp>
      <p:sp>
        <p:nvSpPr>
          <p:cNvPr id="6" name="R2 value"/>
          <p:cNvSpPr txBox="1"/>
          <p:nvPr/>
        </p:nvSpPr>
        <p:spPr>
          <a:xfrm>
            <a:off x="822960" y="2103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0.742</a:t>
            </a:r>
            <a:endParaRPr lang="en-US" sz="6600" dirty="0"/>
          </a:p>
        </p:txBody>
      </p:sp>
      <p:sp>
        <p:nvSpPr>
          <p:cNvPr id="7" name="R2 track"/>
          <p:cNvSpPr/>
          <p:nvPr/>
        </p:nvSpPr>
        <p:spPr>
          <a:xfrm>
            <a:off x="822960" y="3429000"/>
            <a:ext cx="2651760" cy="182880"/>
          </a:xfrm>
          <a:prstGeom prst="roundRect">
            <a:avLst>
              <a:gd name="adj" fmla="val 50000"/>
            </a:avLst>
          </a:prstGeom>
          <a:solidFill>
            <a:schemeClr val="bg1">
              <a:alpha val="30000"/>
            </a:schemeClr>
          </a:solidFill>
          <a:ln/>
        </p:spPr>
      </p:sp>
      <p:sp>
        <p:nvSpPr>
          <p:cNvPr id="8" name="R2 fill"/>
          <p:cNvSpPr/>
          <p:nvPr/>
        </p:nvSpPr>
        <p:spPr>
          <a:xfrm>
            <a:off x="822960" y="3429000"/>
            <a:ext cx="1967606" cy="182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R2 caption"/>
          <p:cNvSpPr txBox="1"/>
          <p:nvPr/>
        </p:nvSpPr>
        <p:spPr>
          <a:xfrm>
            <a:off x="8229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74.2% variance explained</a:t>
            </a:r>
            <a:endParaRPr lang="en-US" sz="1400" dirty="0"/>
          </a:p>
        </p:txBody>
      </p:sp>
      <p:sp>
        <p:nvSpPr>
          <p:cNvPr id="10" name="Metric card 1"/>
          <p:cNvSpPr/>
          <p:nvPr/>
        </p:nvSpPr>
        <p:spPr>
          <a:xfrm>
            <a:off x="3977640" y="1508760"/>
            <a:ext cx="461772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11" name="Metric value 1"/>
          <p:cNvSpPr txBox="1"/>
          <p:nvPr/>
        </p:nvSpPr>
        <p:spPr>
          <a:xfrm>
            <a:off x="4206240" y="1508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$8,900</a:t>
            </a:r>
            <a:endParaRPr lang="en-US" sz="3400" dirty="0"/>
          </a:p>
        </p:txBody>
      </p:sp>
      <p:sp>
        <p:nvSpPr>
          <p:cNvPr id="12" name="Metric text 1"/>
          <p:cNvSpPr txBox="1"/>
          <p:nvPr/>
        </p:nvSpPr>
        <p:spPr>
          <a:xfrm>
            <a:off x="6355080" y="1508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Mean Absolute Error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Average dollar deviation</a:t>
            </a:r>
            <a:endParaRPr lang="en-US" sz="1500" dirty="0"/>
          </a:p>
        </p:txBody>
      </p:sp>
      <p:sp>
        <p:nvSpPr>
          <p:cNvPr id="13" name="Metric card 2"/>
          <p:cNvSpPr/>
          <p:nvPr/>
        </p:nvSpPr>
        <p:spPr>
          <a:xfrm>
            <a:off x="3977640" y="2583180"/>
            <a:ext cx="461772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14" name="Metric value 2"/>
          <p:cNvSpPr txBox="1"/>
          <p:nvPr/>
        </p:nvSpPr>
        <p:spPr>
          <a:xfrm>
            <a:off x="4206240" y="25831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$12,450</a:t>
            </a:r>
            <a:endParaRPr lang="en-US" sz="3400" dirty="0"/>
          </a:p>
        </p:txBody>
      </p:sp>
      <p:sp>
        <p:nvSpPr>
          <p:cNvPr id="15" name="Metric text 2"/>
          <p:cNvSpPr txBox="1"/>
          <p:nvPr/>
        </p:nvSpPr>
        <p:spPr>
          <a:xfrm>
            <a:off x="6355080" y="25831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 RMSE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Root mean squared error</a:t>
            </a:r>
            <a:endParaRPr lang="en-US" sz="1500" dirty="0"/>
          </a:p>
        </p:txBody>
      </p:sp>
      <p:sp>
        <p:nvSpPr>
          <p:cNvPr id="16" name="Metric card 3"/>
          <p:cNvSpPr/>
          <p:nvPr/>
        </p:nvSpPr>
        <p:spPr>
          <a:xfrm>
            <a:off x="3977640" y="3657600"/>
            <a:ext cx="461772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17" name="Metric value 3"/>
          <p:cNvSpPr txBox="1"/>
          <p:nvPr/>
        </p:nvSpPr>
        <p:spPr>
          <a:xfrm>
            <a:off x="420624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0.738</a:t>
            </a:r>
            <a:endParaRPr lang="en-US" sz="3400" dirty="0"/>
          </a:p>
        </p:txBody>
      </p:sp>
      <p:sp>
        <p:nvSpPr>
          <p:cNvPr id="18" name="Metric text 3"/>
          <p:cNvSpPr txBox="1"/>
          <p:nvPr/>
        </p:nvSpPr>
        <p:spPr>
          <a:xfrm>
            <a:off x="635508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5-Fold CV R²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Consistent generalization</a:t>
            </a:r>
            <a:endParaRPr lang="en-US" sz="1500" dirty="0"/>
          </a:p>
        </p:txBody>
      </p:sp>
      <p:pic>
        <p:nvPicPr>
          <p:cNvPr id="19" name="Nav Previous slide" descr="preencoded.png">
            <a:hlinkClick r:id="rId3" action="ppaction://hlinksldjump" tooltip="Previous 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20" name="Nav Project roadmap" descr="preencoded.png">
            <a:hlinkClick r:id="rId5" action="ppaction://hlinksldjump" tooltip="Project roadma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21" name="Nav Next slide" descr="preencoded.png">
            <a:hlinkClick r:id="rId7" action="ppaction://hlinksldjump" tooltip="Next 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LIVE DEPLOYMENT  •  SPEAKER 4: MASHRAB ABDUMURODOV</a:t>
            </a:r>
            <a:endParaRPr lang="en-US" sz="1000" dirty="0"/>
          </a:p>
        </p:txBody>
      </p:sp>
      <p:sp>
        <p:nvSpPr>
          <p:cNvPr id="3" name="Text 2"/>
          <p:cNvSpPr>
            <a:spLocks noGrp="1"/>
          </p:cNvSpPr>
          <p:nvPr>
            <p:ph type="title" idx="104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Interactive Predictor Test Scenarios</a:t>
            </a:r>
            <a:endParaRPr lang="en-US" sz="2800" dirty="0"/>
          </a:p>
        </p:txBody>
      </p:sp>
      <p:sp>
        <p:nvSpPr>
          <p:cNvPr id="4" name="Scenario card 1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5" name="Scenario 1 badge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cenario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908810"/>
            <a:ext cx="251460" cy="251460"/>
          </a:xfrm>
          <a:prstGeom prst="rect">
            <a:avLst/>
          </a:prstGeom>
        </p:spPr>
      </p:pic>
      <p:sp>
        <p:nvSpPr>
          <p:cNvPr id="7" name="District 1"/>
          <p:cNvSpPr txBox="1"/>
          <p:nvPr/>
        </p:nvSpPr>
        <p:spPr>
          <a:xfrm>
            <a:off x="14173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6"/>
                </a:solidFill>
              </a:rPr>
              <a:t>MIRZO ULUGBEK</a:t>
            </a:r>
            <a:endParaRPr lang="en-US" sz="1300" dirty="0"/>
          </a:p>
        </p:txBody>
      </p:sp>
      <p:sp>
        <p:nvSpPr>
          <p:cNvPr id="8" name="Price label 1"/>
          <p:cNvSpPr txBox="1"/>
          <p:nvPr/>
        </p:nvSpPr>
        <p:spPr>
          <a:xfrm>
            <a:off x="777240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Predicted price</a:t>
            </a:r>
            <a:endParaRPr lang="en-US" sz="1200" dirty="0"/>
          </a:p>
        </p:txBody>
      </p:sp>
      <p:sp>
        <p:nvSpPr>
          <p:cNvPr id="9" name="Price 1"/>
          <p:cNvSpPr txBox="1"/>
          <p:nvPr/>
        </p:nvSpPr>
        <p:spPr>
          <a:xfrm>
            <a:off x="7772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$65,185</a:t>
            </a:r>
            <a:endParaRPr lang="en-US" sz="4000" dirty="0"/>
          </a:p>
        </p:txBody>
      </p:sp>
      <p:sp>
        <p:nvSpPr>
          <p:cNvPr id="10" name="Spec 1-1"/>
          <p:cNvSpPr txBox="1"/>
          <p:nvPr/>
        </p:nvSpPr>
        <p:spPr>
          <a:xfrm>
            <a:off x="777240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 rooms</a:t>
            </a:r>
            <a:endParaRPr lang="en-US" sz="1100" dirty="0"/>
          </a:p>
        </p:txBody>
      </p:sp>
      <p:sp>
        <p:nvSpPr>
          <p:cNvPr id="11" name="Spec 1-2"/>
          <p:cNvSpPr txBox="1"/>
          <p:nvPr/>
        </p:nvSpPr>
        <p:spPr>
          <a:xfrm>
            <a:off x="1499616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75 m²</a:t>
            </a:r>
            <a:endParaRPr lang="en-US" sz="1100" dirty="0"/>
          </a:p>
        </p:txBody>
      </p:sp>
      <p:sp>
        <p:nvSpPr>
          <p:cNvPr id="12" name="Spec 1-3"/>
          <p:cNvSpPr txBox="1"/>
          <p:nvPr/>
        </p:nvSpPr>
        <p:spPr>
          <a:xfrm>
            <a:off x="2221992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Floor 4/9</a:t>
            </a:r>
            <a:endParaRPr lang="en-US" sz="1100" dirty="0"/>
          </a:p>
        </p:txBody>
      </p:sp>
      <p:sp>
        <p:nvSpPr>
          <p:cNvPr id="13" name="Scenario card 2"/>
          <p:cNvSpPr/>
          <p:nvPr/>
        </p:nvSpPr>
        <p:spPr>
          <a:xfrm>
            <a:off x="3291840" y="1554480"/>
            <a:ext cx="2560320" cy="2926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14" name="Scenario 2 badge"/>
          <p:cNvSpPr/>
          <p:nvPr/>
        </p:nvSpPr>
        <p:spPr>
          <a:xfrm>
            <a:off x="35204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cenario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170" y="1908810"/>
            <a:ext cx="251460" cy="251460"/>
          </a:xfrm>
          <a:prstGeom prst="rect">
            <a:avLst/>
          </a:prstGeom>
        </p:spPr>
      </p:pic>
      <p:sp>
        <p:nvSpPr>
          <p:cNvPr id="16" name="District 2"/>
          <p:cNvSpPr txBox="1"/>
          <p:nvPr/>
        </p:nvSpPr>
        <p:spPr>
          <a:xfrm>
            <a:off x="41605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</a:rPr>
              <a:t>YAKKASAROY</a:t>
            </a:r>
            <a:endParaRPr lang="en-US" sz="1300" dirty="0"/>
          </a:p>
        </p:txBody>
      </p:sp>
      <p:sp>
        <p:nvSpPr>
          <p:cNvPr id="17" name="Price label 2"/>
          <p:cNvSpPr txBox="1"/>
          <p:nvPr/>
        </p:nvSpPr>
        <p:spPr>
          <a:xfrm>
            <a:off x="3520440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Predicted price</a:t>
            </a:r>
            <a:endParaRPr lang="en-US" sz="1200" dirty="0"/>
          </a:p>
        </p:txBody>
      </p:sp>
      <p:sp>
        <p:nvSpPr>
          <p:cNvPr id="18" name="Price 2"/>
          <p:cNvSpPr txBox="1"/>
          <p:nvPr/>
        </p:nvSpPr>
        <p:spPr>
          <a:xfrm>
            <a:off x="35204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$59,610</a:t>
            </a:r>
            <a:endParaRPr lang="en-US" sz="4000" dirty="0"/>
          </a:p>
        </p:txBody>
      </p:sp>
      <p:sp>
        <p:nvSpPr>
          <p:cNvPr id="19" name="Spec 2-1"/>
          <p:cNvSpPr txBox="1"/>
          <p:nvPr/>
        </p:nvSpPr>
        <p:spPr>
          <a:xfrm>
            <a:off x="3520440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2 rooms</a:t>
            </a:r>
            <a:endParaRPr lang="en-US" sz="1100" dirty="0"/>
          </a:p>
        </p:txBody>
      </p:sp>
      <p:sp>
        <p:nvSpPr>
          <p:cNvPr id="20" name="Spec 2-2"/>
          <p:cNvSpPr txBox="1"/>
          <p:nvPr/>
        </p:nvSpPr>
        <p:spPr>
          <a:xfrm>
            <a:off x="4242816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65 m²</a:t>
            </a:r>
            <a:endParaRPr lang="en-US" sz="1100" dirty="0"/>
          </a:p>
        </p:txBody>
      </p:sp>
      <p:sp>
        <p:nvSpPr>
          <p:cNvPr id="21" name="Spec 2-3"/>
          <p:cNvSpPr txBox="1"/>
          <p:nvPr/>
        </p:nvSpPr>
        <p:spPr>
          <a:xfrm>
            <a:off x="4965192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Floor 3/5</a:t>
            </a:r>
            <a:endParaRPr lang="en-US" sz="1100" dirty="0"/>
          </a:p>
        </p:txBody>
      </p:sp>
      <p:sp>
        <p:nvSpPr>
          <p:cNvPr id="22" name="Scenario card 3"/>
          <p:cNvSpPr/>
          <p:nvPr/>
        </p:nvSpPr>
        <p:spPr>
          <a:xfrm>
            <a:off x="6035040" y="1554480"/>
            <a:ext cx="2560320" cy="29260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0B1B3A">
                <a:alpha val="14000"/>
              </a:srgbClr>
            </a:outerShdw>
          </a:effectLst>
        </p:spPr>
      </p:sp>
      <p:sp>
        <p:nvSpPr>
          <p:cNvPr id="23" name="Scenario 3 badge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Scenario 3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70" y="1908810"/>
            <a:ext cx="251460" cy="251460"/>
          </a:xfrm>
          <a:prstGeom prst="rect">
            <a:avLst/>
          </a:prstGeom>
        </p:spPr>
      </p:pic>
      <p:sp>
        <p:nvSpPr>
          <p:cNvPr id="25" name="District 3"/>
          <p:cNvSpPr txBox="1"/>
          <p:nvPr/>
        </p:nvSpPr>
        <p:spPr>
          <a:xfrm>
            <a:off x="69037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</a:rPr>
              <a:t>CHILONZOR</a:t>
            </a:r>
            <a:endParaRPr lang="en-US" sz="1300" dirty="0"/>
          </a:p>
        </p:txBody>
      </p:sp>
      <p:sp>
        <p:nvSpPr>
          <p:cNvPr id="26" name="Price label 3"/>
          <p:cNvSpPr txBox="1"/>
          <p:nvPr/>
        </p:nvSpPr>
        <p:spPr>
          <a:xfrm>
            <a:off x="6263640" y="2514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Predicted price</a:t>
            </a:r>
            <a:endParaRPr lang="en-US" sz="1200" dirty="0"/>
          </a:p>
        </p:txBody>
      </p:sp>
      <p:sp>
        <p:nvSpPr>
          <p:cNvPr id="27" name="Price 3"/>
          <p:cNvSpPr txBox="1"/>
          <p:nvPr/>
        </p:nvSpPr>
        <p:spPr>
          <a:xfrm>
            <a:off x="62636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$40,540</a:t>
            </a:r>
            <a:endParaRPr lang="en-US" sz="4000" dirty="0"/>
          </a:p>
        </p:txBody>
      </p:sp>
      <p:sp>
        <p:nvSpPr>
          <p:cNvPr id="28" name="Spec 3-1"/>
          <p:cNvSpPr txBox="1"/>
          <p:nvPr/>
        </p:nvSpPr>
        <p:spPr>
          <a:xfrm>
            <a:off x="6263640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2 rooms</a:t>
            </a:r>
            <a:endParaRPr lang="en-US" sz="1100" dirty="0"/>
          </a:p>
        </p:txBody>
      </p:sp>
      <p:sp>
        <p:nvSpPr>
          <p:cNvPr id="29" name="Spec 3-2"/>
          <p:cNvSpPr txBox="1"/>
          <p:nvPr/>
        </p:nvSpPr>
        <p:spPr>
          <a:xfrm>
            <a:off x="6986016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55 m²</a:t>
            </a:r>
            <a:endParaRPr lang="en-US" sz="1100" dirty="0"/>
          </a:p>
        </p:txBody>
      </p:sp>
      <p:sp>
        <p:nvSpPr>
          <p:cNvPr id="30" name="Spec 3-3"/>
          <p:cNvSpPr txBox="1"/>
          <p:nvPr/>
        </p:nvSpPr>
        <p:spPr>
          <a:xfrm>
            <a:off x="7708392" y="3749040"/>
            <a:ext cx="676656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Floor 2/4</a:t>
            </a:r>
            <a:endParaRPr lang="en-US" sz="1100" dirty="0"/>
          </a:p>
        </p:txBody>
      </p:sp>
      <p:pic>
        <p:nvPicPr>
          <p:cNvPr id="31" name="Nav Previous slide" descr="preencoded.png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32" name="Nav Project roadmap" descr="preencoded.png">
            <a:hlinkClick r:id="rId6" action="ppaction://hlinksldjump" tooltip="Project roadma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  <p:pic>
        <p:nvPicPr>
          <p:cNvPr id="33" name="Nav Next slide" descr="preencoded.png">
            <a:hlinkClick r:id="rId8" action="ppaction://hlinksldjump" tooltip="Next slide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709160"/>
            <a:ext cx="274320" cy="2743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TEAM  •  GROUP E40B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1325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Thank You &amp; Q&amp;A</a:t>
            </a:r>
            <a:endParaRPr lang="en-US" sz="5000" dirty="0"/>
          </a:p>
        </p:txBody>
      </p:sp>
      <p:sp>
        <p:nvSpPr>
          <p:cNvPr id="4" name="Text 1"/>
          <p:cNvSpPr>
            <a:spLocks noGrp="1"/>
          </p:cNvSpPr>
          <p:nvPr>
            <p:ph type="body" idx="105" hasCustomPrompt="1"/>
          </p:nvPr>
        </p:nvSpPr>
        <p:spPr>
          <a:xfrm>
            <a:off x="548640" y="2423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Live demo of our Jupyter Notebook and Interactive Price Predictor available now.</a:t>
            </a:r>
            <a:endParaRPr lang="en-US" sz="1600" dirty="0"/>
          </a:p>
        </p:txBody>
      </p:sp>
      <p:sp>
        <p:nvSpPr>
          <p:cNvPr id="5" name="Predictor link button">
            <a:hlinkClick r:id="rId3" tooltip="Open predictor"/>
          </p:cNvPr>
          <p:cNvSpPr txBox="1"/>
          <p:nvPr/>
        </p:nvSpPr>
        <p:spPr>
          <a:xfrm>
            <a:off x="548640" y="3337560"/>
            <a:ext cx="393192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chemeClr val="tx1"/>
                </a:solidFill>
                <a:hlinkClick r:id="rId3" tooltip="Open predic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Price Predictor  →</a:t>
            </a:r>
            <a:endParaRPr lang="en-US" sz="1500" dirty="0"/>
          </a:p>
        </p:txBody>
      </p:sp>
      <p:sp>
        <p:nvSpPr>
          <p:cNvPr id="6" name="Predictor URL"/>
          <p:cNvSpPr txBox="1"/>
          <p:nvPr/>
        </p:nvSpPr>
        <p:spPr>
          <a:xfrm>
            <a:off x="548640" y="3977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sites.google.com/view/real-estate-price-predictor/full-page-embed</a:t>
            </a:r>
            <a:endParaRPr lang="en-US" sz="1200" dirty="0"/>
          </a:p>
        </p:txBody>
      </p:sp>
      <p:sp>
        <p:nvSpPr>
          <p:cNvPr id="7" name="Team names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Oydinov Bexruz  •  Murtazoyev Xondamir  •  Sayfulloyev Muhammad  •  Abdumurodov Mashrab</a:t>
            </a:r>
            <a:endParaRPr lang="en-US" sz="1200" dirty="0"/>
          </a:p>
        </p:txBody>
      </p:sp>
      <p:pic>
        <p:nvPicPr>
          <p:cNvPr id="8" name="Nav Previous slide" descr="preencoded.png">
            <a:hlinkClick r:id="rId4" action="ppaction://hlinksldjump" tooltip="Previous slid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709160"/>
            <a:ext cx="274320" cy="274320"/>
          </a:xfrm>
          <a:prstGeom prst="rect">
            <a:avLst/>
          </a:prstGeom>
        </p:spPr>
      </p:pic>
      <p:pic>
        <p:nvPicPr>
          <p:cNvPr id="9" name="Nav Project roadmap" descr="preencoded.png">
            <a:hlinkClick r:id="rId6" action="ppaction://hlinksldjump" tooltip="Project roadma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470916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mph" presetSubtype="0" repeatCount="indefinite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5" dur="7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ashkent Skyline">
  <a:themeElements>
    <a:clrScheme name="Tashkent Skyline">
      <a:dk1>
        <a:srgbClr val="0B1B3A"/>
      </a:dk1>
      <a:lt1>
        <a:srgbClr val="FFFFFF"/>
      </a:lt1>
      <a:dk2>
        <a:srgbClr val="14305E"/>
      </a:dk2>
      <a:lt2>
        <a:srgbClr val="F1F5F9"/>
      </a:lt2>
      <a:accent1>
        <a:srgbClr val="0B8793"/>
      </a:accent1>
      <a:accent2>
        <a:srgbClr val="F5B700"/>
      </a:accent2>
      <a:accent3>
        <a:srgbClr val="E4572E"/>
      </a:accent3>
      <a:accent4>
        <a:srgbClr val="5B6B85"/>
      </a:accent4>
      <a:accent5>
        <a:srgbClr val="C9D6E6"/>
      </a:accent5>
      <a:accent6>
        <a:srgbClr val="38D6E3"/>
      </a:accent6>
      <a:hlink>
        <a:srgbClr val="0B1B3A"/>
      </a:hlink>
      <a:folHlink>
        <a:srgbClr val="0B1B3A"/>
      </a:folHlink>
    </a:clrScheme>
    <a:fontScheme name="Tashkent Sky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Tashkent Skyline</vt:lpstr>
      <vt:lpstr>Tashkent Apartment Price Prediction</vt:lpstr>
      <vt:lpstr>Project Roadmap</vt:lpstr>
      <vt:lpstr>Team Roles &amp; Presentation Flow</vt:lpstr>
      <vt:lpstr>Market Problem &amp; Research Objectives</vt:lpstr>
      <vt:lpstr>Uybor.uz Tashkent Real Estate Dataset</vt:lpstr>
      <vt:lpstr>Four-Stage Data Cleaning Pipeline</vt:lpstr>
      <vt:lpstr>Engineered Features for Regression</vt:lpstr>
      <vt:lpstr>Average Price per m² by District</vt:lpstr>
      <vt:lpstr>Key Price Drivers &amp; Spatial Trends</vt:lpstr>
      <vt:lpstr>Multiple Linear Regression Learned Weights</vt:lpstr>
      <vt:lpstr>Model Evaluation on 20% Unseen Test Set</vt:lpstr>
      <vt:lpstr>Interactive Predictor Test Scenarios</vt:lpstr>
      <vt:lpstr>Thank You &amp; 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Tashkent Apartment Price Prediction</dc:title>
  <dc:subject>PptxGenJS Presentation</dc:subject>
  <dc:creator>PptxGenJS</dc:creator>
  <cp:lastModifiedBy>XONDAMIR MURTAZOYEV</cp:lastModifiedBy>
  <cp:revision>2</cp:revision>
  <dcterms:created xsi:type="dcterms:W3CDTF">2026-10-18T18:52:14Z</dcterms:created>
  <dcterms:modified xsi:type="dcterms:W3CDTF">2026-10-18T18:55:38Z</dcterms:modified>
</cp:coreProperties>
</file>