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DM Sans" pitchFamily="2" charset="0"/>
      <p:regular r:id="rId14"/>
      <p:bold r:id="rId15"/>
    </p:embeddedFont>
    <p:embeddedFont>
      <p:font typeface="Space Grotesk"/>
      <p:bold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533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sites.google.com/view/real-estate-price-predictor/full-page-embed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24362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1557337"/>
            <a:ext cx="115824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Space Grotesk"/>
              </a:rPr>
              <a:t>AI &amp; MACHINE LEARNING PROJECT • TEAM (GROUP E40B)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09762"/>
            <a:ext cx="9301162" cy="1352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F8FAFC"/>
                </a:solidFill>
                <a:latin typeface="Space Grotesk"/>
              </a:rPr>
              <a:t>Tashkent Apartment Price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3490912"/>
            <a:ext cx="71437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 dirty="0">
                <a:solidFill>
                  <a:srgbClr val="94A3B8"/>
                </a:solidFill>
                <a:latin typeface="DM Sans"/>
              </a:rPr>
              <a:t>Exploratory data analysis and Multiple Linear Regression modeling on Uybor.uz listings.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843462"/>
            <a:ext cx="219566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DM Sans"/>
              </a:rPr>
              <a:t>Oydinov Bexruz</a:t>
            </a:r>
            <a:r>
              <a:rPr sz="1350" b="0" i="0" u="none">
                <a:solidFill>
                  <a:srgbClr val="E2E8F0"/>
                </a:solidFill>
                <a:latin typeface="DM Sans"/>
              </a:rPr>
              <a:t> (202390243)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4811" y="4843462"/>
            <a:ext cx="263083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DM Sans"/>
              </a:rPr>
              <a:t>Murtazoyev Xondamir</a:t>
            </a:r>
            <a:r>
              <a:rPr sz="1350" b="0" i="0" u="none">
                <a:solidFill>
                  <a:srgbClr val="E2E8F0"/>
                </a:solidFill>
                <a:latin typeface="DM Sans"/>
              </a:rPr>
              <a:t> (202390241)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5196" y="4843462"/>
            <a:ext cx="28064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DM Sans"/>
              </a:rPr>
              <a:t>Sayfulloyev Muhammad</a:t>
            </a:r>
            <a:r>
              <a:rPr sz="1350" b="0" i="0" u="none">
                <a:solidFill>
                  <a:srgbClr val="E2E8F0"/>
                </a:solidFill>
                <a:latin typeface="DM Sans"/>
              </a:rPr>
              <a:t> (202390201)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1198" y="4843462"/>
            <a:ext cx="2806451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DM Sans"/>
              </a:rPr>
              <a:t>Abdumurodov Mashrab</a:t>
            </a:r>
            <a:r>
              <a:rPr sz="1350" b="0" i="0" u="none">
                <a:solidFill>
                  <a:srgbClr val="E2E8F0"/>
                </a:solidFill>
                <a:latin typeface="DM Sans"/>
              </a:rPr>
              <a:t> (202390257)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33700"/>
            <a:ext cx="257175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2800350"/>
            <a:ext cx="2571750" cy="2171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909887"/>
            <a:ext cx="2571750" cy="1952625"/>
          </a:xfrm>
          <a:prstGeom prst="roundRect">
            <a:avLst>
              <a:gd name="adj" fmla="val 585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2800350"/>
            <a:ext cx="2571750" cy="21717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38500"/>
            <a:ext cx="266700" cy="2667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05150"/>
            <a:ext cx="33337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0" y="3105150"/>
            <a:ext cx="266700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TEAM STRUCTURE • SPEAKER 1: BEXRUZ OYDINOV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Team Roles &amp; Presentation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657600"/>
            <a:ext cx="27753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1. Bexruz Oydinov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000500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Team Leader (202390243)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4305300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DM Sans"/>
              </a:rPr>
              <a:t>Problem &amp; MLR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8550" y="3524250"/>
            <a:ext cx="232029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2. Xondamir Murtazoyev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4133850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CPO (202390241)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4438650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DM Sans"/>
              </a:rPr>
              <a:t>Pipeline &amp;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414712"/>
            <a:ext cx="232029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3. Muhammad Sayfulloyev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900" y="4024312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Researcher (202390201)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8900" y="4329112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DM Sans"/>
              </a:rPr>
              <a:t>EDA &amp; Market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0" y="3524250"/>
            <a:ext cx="232029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4. Mashrab Abdumurodov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0" y="4133850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Prompt Eng (202390257)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0" y="4438650"/>
            <a:ext cx="2643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DM Sans"/>
              </a:rPr>
              <a:t>Evaluation &amp; Web App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1790700"/>
            <a:ext cx="5257800" cy="419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PROJECT CONTEXT • SPEAKER 1: BEXRUZ OYDINOV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Market Problem &amp; Research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924175"/>
            <a:ext cx="5353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Subjective Pricing: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Wide valuation gaps across Tashkent listings.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648075"/>
            <a:ext cx="6572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Core Objective: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Predict fair USD value via regression.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124325"/>
            <a:ext cx="6572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Spatial Factor: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Quantify price premiums across 12 districts.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600575"/>
            <a:ext cx="6572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Interpretability: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Measure exact dollar impact per feature.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DATA SOURCE • SPEAKER 2: XONDAMIR MURTAZOYEV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Uybor.uz Tashkent Real Estate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81550" y="2847975"/>
            <a:ext cx="3286125" cy="1362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400" b="1" i="0" u="none">
                <a:solidFill>
                  <a:srgbClr val="0284C7"/>
                </a:solidFill>
                <a:latin typeface="Space Grotesk"/>
              </a:rPr>
              <a:t>7,421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5125" y="4324350"/>
            <a:ext cx="7977187" cy="295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F172A"/>
                </a:solidFill>
                <a:latin typeface="DM Sans"/>
              </a:rPr>
              <a:t>Scraped Apartment Listings Across 12 Tashkent Districts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95562" y="4695825"/>
            <a:ext cx="87510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9 raw attributes including area (m²), rooms, floor level, price (USD), and GPS coordinates.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00375"/>
            <a:ext cx="257175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9950" y="3000375"/>
            <a:ext cx="257175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3000375"/>
            <a:ext cx="257175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010650" y="3000375"/>
            <a:ext cx="2571750" cy="1771650"/>
          </a:xfrm>
          <a:prstGeom prst="roundRect">
            <a:avLst>
              <a:gd name="adj" fmla="val 64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PREPROCESSING • SPEAKER 2: XONDAMIR MURTAZOYEV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Four-Stage Data Cleaning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67075"/>
            <a:ext cx="273843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Space Grotesk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3724275"/>
            <a:ext cx="287535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Deduplication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048125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Dropped 696 duplicate rows.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450" y="3267075"/>
            <a:ext cx="273843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Space Grotesk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450" y="3724275"/>
            <a:ext cx="287535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Floor Logic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00450" y="4048125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Enforced level below max_levels.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67075"/>
            <a:ext cx="273843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284C7"/>
                </a:solidFill>
                <a:latin typeface="Space Grotesk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724275"/>
            <a:ext cx="287535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Outlier Trimming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048125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Filtered 1st to 99th percentiles.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1150" y="3267075"/>
            <a:ext cx="2738437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A580C"/>
                </a:solidFill>
                <a:latin typeface="Space Grotesk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1150" y="3724275"/>
            <a:ext cx="2875359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DM Sans"/>
              </a:rPr>
              <a:t>Clean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1150" y="4048125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6,360 verified housing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14575"/>
            <a:ext cx="53721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314575"/>
            <a:ext cx="53721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000500"/>
            <a:ext cx="53721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210300" y="4000500"/>
            <a:ext cx="5372100" cy="1457325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581275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581275"/>
            <a:ext cx="17145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4267200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4267200"/>
            <a:ext cx="1428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DOMAIN FEATURES • SPEAKER 2: XONDAMIR MURTAZOYEV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Engineered Features for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2924175"/>
            <a:ext cx="63507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Center Proximity (dist_from_center_km)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276600"/>
            <a:ext cx="6048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Haversine distance to Amir Temur Square.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2924175"/>
            <a:ext cx="5715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Floor Position Indicators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7000" y="3276600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Binary flags for top and first floors.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4610100"/>
            <a:ext cx="6350793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Room Spaciousness (sqm_per_room)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300" y="4962525"/>
            <a:ext cx="60483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Total area divided by room count.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7000" y="4610100"/>
            <a:ext cx="5715000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DM Sans"/>
              </a:rPr>
              <a:t>One-Hot District Encoding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7000" y="4962525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11 binary columns avoiding multicollinearity.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EXPLORATORY DATA ANALYSIS • SPEAKER 3: MUHAMMAD SAYFULLOYEV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Average Price per Square Meter ($/m²) by District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90700"/>
            <a:ext cx="5257800" cy="4191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KEY DRIVERS • SPEAKER 3: MUHAMMAD SAYFULLOYEV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Key Price Drivers &amp; Spatial Trends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24600" y="2552700"/>
            <a:ext cx="5353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Living Area (r = 0.81):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Strongest linear driver of apartment price.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600" y="3276600"/>
            <a:ext cx="5353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Room Count (r = 0.62):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High positive correlation with total size.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600" y="4000500"/>
            <a:ext cx="5353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Center Distance (r = -0.34):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Prices drop sharply outside central 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600" y="4724400"/>
            <a:ext cx="535305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E293B"/>
                </a:solidFill>
                <a:latin typeface="DM Sans"/>
              </a:rPr>
              <a:t>Top Floor Discount:</a:t>
            </a:r>
            <a:r>
              <a:rPr sz="1500" b="0" i="0" u="none">
                <a:solidFill>
                  <a:srgbClr val="1E293B"/>
                </a:solidFill>
                <a:latin typeface="DM Sans"/>
              </a:rPr>
              <a:t> Top floors trade lower in unrenovated buildings.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2119312"/>
          <a:ext cx="10972798" cy="3533775"/>
        </p:xfrm>
        <a:graphic>
          <a:graphicData uri="http://schemas.openxmlformats.org/drawingml/2006/table">
            <a:tbl>
              <a:tblPr/>
              <a:tblGrid>
                <a:gridCol w="3053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6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935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Model Feature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Learned Coefficient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Market Interpretation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Total Area (size)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+$868.50 / m²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Marginal dollar increase per square 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District: Mirobod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+$11,850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Executive central location premium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District: Yakkasaroy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+$9,200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Central residential district premium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District: Mirzo Ulugbek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284C7"/>
                          </a:solidFill>
                          <a:latin typeface="DM Sans"/>
                        </a:rPr>
                        <a:t>+$6,450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High-demand eastern central premium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Distance to Center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DM Sans"/>
                        </a:rPr>
                        <a:t>-$1,620 / km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Price drop per km from Amir Temur Square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0F172A"/>
                          </a:solidFill>
                          <a:latin typeface="DM Sans"/>
                        </a:rPr>
                        <a:t>Top Floor Indicator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EA580C"/>
                          </a:solidFill>
                          <a:latin typeface="DM Sans"/>
                        </a:rPr>
                        <a:t>-$2,450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0" i="0" u="none">
                          <a:solidFill>
                            <a:srgbClr val="475569"/>
                          </a:solidFill>
                          <a:latin typeface="DM Sans"/>
                        </a:rPr>
                        <a:t>Top floor discount vs middle levels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MODEL COEFFICIENTS • SPEAKER 1: BEXRUZ OYDINOV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Multiple Linear Regression Learned Weights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VALIDATION RESULTS • SPEAKER 4: MASHRAB ABDUMURODOV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Model Evaluation on 20% Unseen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75" y="3181350"/>
            <a:ext cx="3143250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284C7"/>
                </a:solidFill>
                <a:latin typeface="Space Grotesk"/>
              </a:rPr>
              <a:t>0.742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5275" y="4076700"/>
            <a:ext cx="3143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DM Sans"/>
              </a:rPr>
              <a:t>Test R²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275" y="4362450"/>
            <a:ext cx="3143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DM Sans"/>
              </a:rPr>
              <a:t>74.2% variance explained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14675" y="3181350"/>
            <a:ext cx="3143250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Space Grotesk"/>
              </a:rPr>
              <a:t>$8,900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14675" y="4076700"/>
            <a:ext cx="3143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DM Sans"/>
              </a:rPr>
              <a:t>Mean Absolute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14675" y="4362450"/>
            <a:ext cx="3143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DM Sans"/>
              </a:rPr>
              <a:t>Average dollar deviation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34075" y="3181350"/>
            <a:ext cx="3143250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Space Grotesk"/>
              </a:rPr>
              <a:t>$12,450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34075" y="4076700"/>
            <a:ext cx="3143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DM Sans"/>
              </a:rPr>
              <a:t>Test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34075" y="4362450"/>
            <a:ext cx="3143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DM Sans"/>
              </a:rPr>
              <a:t>Root mean squared 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53475" y="3181350"/>
            <a:ext cx="3143250" cy="781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EA580C"/>
                </a:solidFill>
                <a:latin typeface="Space Grotesk"/>
              </a:rPr>
              <a:t>0.738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53475" y="4076700"/>
            <a:ext cx="31432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172A"/>
                </a:solidFill>
                <a:latin typeface="DM Sans"/>
              </a:rPr>
              <a:t>5-Fold CV R²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53475" y="4362450"/>
            <a:ext cx="314325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475569"/>
                </a:solidFill>
                <a:latin typeface="DM Sans"/>
              </a:rPr>
              <a:t>Consistent generalization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705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6705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67050"/>
            <a:ext cx="3505200" cy="1638300"/>
          </a:xfrm>
          <a:prstGeom prst="roundRect">
            <a:avLst>
              <a:gd name="adj" fmla="val 69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LIVE DEPLOYMENT • SPEAKER 4: MASHRAB ABDUMURODOV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Interactive Predictor Test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71850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MIRZO ULUGBEK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19500"/>
            <a:ext cx="3800475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$65,185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71950"/>
            <a:ext cx="361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3 rooms • 75 m² • Floor 4/9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8200" y="3371850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DM Sans"/>
              </a:rPr>
              <a:t>YAKKASAROY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8200" y="3619500"/>
            <a:ext cx="3800475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$59,610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8200" y="4171950"/>
            <a:ext cx="361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2 rooms • 65 m² • Floor 3/5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0" y="3371850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A580C"/>
                </a:solidFill>
                <a:latin typeface="DM Sans"/>
              </a:rPr>
              <a:t>CHILONZOR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619500"/>
            <a:ext cx="3800475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$40,540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4171950"/>
            <a:ext cx="3619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DM Sans"/>
              </a:rPr>
              <a:t>2 rooms • 55 m² • Floor 2/4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91200" y="4414837"/>
            <a:ext cx="609600" cy="381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982765" y="2405062"/>
            <a:ext cx="2226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284C7"/>
                </a:solidFill>
                <a:latin typeface="Space Grotesk"/>
              </a:rPr>
              <a:t>TEAM • GROUP E40B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14427" y="2757487"/>
            <a:ext cx="5163145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Space Grotesk"/>
              </a:rPr>
              <a:t>Thank You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7875" y="3576637"/>
            <a:ext cx="80962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DM Sans"/>
              </a:rPr>
              <a:t>Live demo of our </a:t>
            </a:r>
            <a:r>
              <a:rPr sz="1500" b="0" i="0" u="none" dirty="0" err="1">
                <a:solidFill>
                  <a:srgbClr val="94A3B8"/>
                </a:solidFill>
                <a:latin typeface="DM Sans"/>
              </a:rPr>
              <a:t>Jupyter</a:t>
            </a:r>
            <a:r>
              <a:rPr sz="1500" b="0" i="0" u="none" dirty="0">
                <a:solidFill>
                  <a:srgbClr val="94A3B8"/>
                </a:solidFill>
                <a:latin typeface="DM Sans"/>
              </a:rPr>
              <a:t> Notebook and Interactive Price Predictor available now.</a:t>
            </a:r>
            <a:endParaRPr lang="en-US" sz="1500" b="0" i="0" u="none" dirty="0">
              <a:solidFill>
                <a:srgbClr val="94A3B8"/>
              </a:solidFill>
              <a:latin typeface="DM Sans"/>
            </a:endParaRPr>
          </a:p>
          <a:p>
            <a:pPr algn="ctr"/>
            <a:endParaRPr lang="en-US" sz="1500" dirty="0">
              <a:solidFill>
                <a:srgbClr val="94A3B8"/>
              </a:solidFill>
              <a:latin typeface="DM Sans"/>
            </a:endParaRPr>
          </a:p>
          <a:p>
            <a:pPr algn="ctr"/>
            <a:r>
              <a:rPr lang="en-US" sz="1500" b="0" i="0" u="none" dirty="0">
                <a:solidFill>
                  <a:srgbClr val="94A3B8"/>
                </a:solidFill>
                <a:latin typeface="DM Sans"/>
                <a:hlinkClick r:id="rId2"/>
              </a:rPr>
              <a:t>https://sites.google.com/view/real-estate-price-predictor/full-page-embed</a:t>
            </a:r>
            <a:endParaRPr sz="1500" b="0" i="0" u="none" dirty="0">
              <a:solidFill>
                <a:srgbClr val="94A3B8"/>
              </a:solidFill>
              <a:latin typeface="DM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623</Words>
  <Application>Microsoft Office PowerPoint</Application>
  <PresentationFormat>Widescreen</PresentationFormat>
  <Paragraphs>117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Space Grotesk</vt:lpstr>
      <vt:lpstr>Arial</vt:lpstr>
      <vt:lpstr>DM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Oydinov Bexruz</cp:lastModifiedBy>
  <cp:revision>3</cp:revision>
  <dcterms:created xsi:type="dcterms:W3CDTF">2013-01-27T09:14:16Z</dcterms:created>
  <dcterms:modified xsi:type="dcterms:W3CDTF">2026-10-18T17:34:06Z</dcterms:modified>
  <cp:category/>
</cp:coreProperties>
</file>